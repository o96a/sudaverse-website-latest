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Sudaverse is a Sudanese AI and digital systems company. This profile covers our three leading projects, all live: sudatutor.sudaverse.com, nodegrid.sudaverse.com and smartselect.sudaverse.com. Cover photo: Khartoum, Sudan, by Christopher Michel, CC BY 2.0, via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we are. Figures from sudaverse.com: ten projects including NodeGrid, a seven-person core team, two papers at IEEE FITAT 2026, and six research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in three words: language, context, control. Each of the three projects answers one or more of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projects at a glance, each live at its own sudaverse.com address.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SudaTutor is live: 12 grade levels and 117 books of the Sudanese national curriculum, available around the clock. The screenshot is the real public home page, in Arabic. Learners start as a guest or create a free account.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learner journey in five steps. Photo: students writing a national examination, African Union Mission in Somalia,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NodeGrid is our AI infrastructure platform. Version 1.0 is released and running at nodegrid.sudaverse.com. It is self-hosted: agents, data and history stay on the customer's own servers. Server room photo: rawpixel, CC0.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Operators work in the browser; the control plane owns identity, tenants, workflows and the record of every run; execution happens on models, tools and edge agents the customer controls. Cross-tenant reads return not-found, so a probe cannot confirm a record exists.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capabilities, all shipped in NodeGrid v1.0.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SmartSelect never selects anyone; it supports the panel. Each organisation runs its own deployment, picks an industry preset and edits the form, rules, scorecard, fuzzy rule base, workflow and roles, all versioned and audited. Screenshot: the live applicant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stages of a selection cycle. The official scorecard and the fuzzy advice are kept apart. Photo: the main gate of the University of Khartoum Library, by Evon2023, CC0, via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sectors, three platforms. Photos: classroom, African Union Mission in Somalia, public domain; server room, rawpixel, CC0; University of Khartoum Library gate, Evon2023, CC0; job interview, Alan Cleaver, CC BY 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principles from the Sudaverse website, each backed by a concrete feature of the platforms.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work, as published on sudaverse.com. At Web Summit the ask is a conversation: pilots, deployments, research collaboration or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contact details and the three live addresses.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10.jpg"/><Relationship Id="rId6"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A2C"/>
        </a:solidFill>
        <a:effectLst/>
      </p:bgPr>
    </p:bg>
    <p:spTree>
      <p:nvGrpSpPr>
        <p:cNvPr id="1" name=""/>
        <p:cNvGrpSpPr/>
        <p:nvPr/>
      </p:nvGrpSpPr>
      <p:grpSpPr/>
      <p:pic>
        <p:nvPicPr>
          <p:cNvPr id="2" name="Picture 1" descr="khartoum.jpg"/>
          <p:cNvPicPr>
            <a:picLocks noChangeAspect="1"/>
          </p:cNvPicPr>
          <p:nvPr/>
        </p:nvPicPr>
        <p:blipFill>
          <a:blip r:embed="rId3"/>
          <a:srcRect l="21605" r="21605"/>
          <a:stretch>
            <a:fillRect/>
          </a:stretch>
        </p:blipFill>
        <p:spPr>
          <a:xfrm>
            <a:off x="6350000" y="0"/>
            <a:ext cx="5842000" cy="6858000"/>
          </a:xfrm>
          <a:prstGeom prst="rect">
            <a:avLst/>
          </a:prstGeom>
        </p:spPr>
      </p:pic>
      <p:sp>
        <p:nvSpPr>
          <p:cNvPr id="3" name="Rectangle 2"/>
          <p:cNvSpPr/>
          <p:nvPr/>
        </p:nvSpPr>
        <p:spPr>
          <a:xfrm>
            <a:off x="6350000" y="0"/>
            <a:ext cx="5842000" cy="6858000"/>
          </a:xfrm>
          <a:prstGeom prst="rect">
            <a:avLst/>
          </a:prstGeom>
          <a:gradFill rotWithShape="1">
            <a:gsLst>
              <a:gs pos="0">
                <a:srgbClr val="061a2c">
                  <a:alpha val="100000"/>
                </a:srgbClr>
              </a:gs>
              <a:gs pos="30000">
                <a:srgbClr val="061a2c">
                  <a:alpha val="35000"/>
                </a:srgbClr>
              </a:gs>
              <a:gs pos="60000">
                <a:srgbClr val="061a2c">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0" y="6350000"/>
            <a:ext cx="3683000" cy="203200"/>
          </a:xfrm>
          <a:prstGeom prst="rect">
            <a:avLst/>
          </a:prstGeom>
          <a:noFill/>
        </p:spPr>
        <p:txBody>
          <a:bodyPr wrap="square" lIns="0" rIns="0" tIns="0" bIns="0" anchor="t">
            <a:spAutoFit/>
          </a:bodyPr>
          <a:lstStyle/>
          <a:p>
            <a:pPr algn="r">
              <a:lnSpc>
                <a:spcPct val="120000"/>
              </a:lnSpc>
            </a:pPr>
            <a:r>
              <a:rPr sz="1200" b="0">
                <a:solidFill>
                  <a:srgbClr val="DCE8F1"/>
                </a:solidFill>
                <a:latin typeface="Schibsted Grotesk"/>
              </a:rPr>
              <a:t>Photo: Christopher Michel, CC BY 2.0</a:t>
            </a:r>
          </a:p>
        </p:txBody>
      </p:sp>
      <p:pic>
        <p:nvPicPr>
          <p:cNvPr id="5" name="Picture 4" descr="sv-word-rev.png"/>
          <p:cNvPicPr>
            <a:picLocks noChangeAspect="1"/>
          </p:cNvPicPr>
          <p:nvPr/>
        </p:nvPicPr>
        <p:blipFill>
          <a:blip r:embed="rId4"/>
          <a:stretch>
            <a:fillRect/>
          </a:stretch>
        </p:blipFill>
        <p:spPr>
          <a:xfrm>
            <a:off x="813118" y="711200"/>
            <a:ext cx="2348865" cy="228600"/>
          </a:xfrm>
          <a:prstGeom prst="rect">
            <a:avLst/>
          </a:prstGeom>
        </p:spPr>
      </p:pic>
      <p:sp>
        <p:nvSpPr>
          <p:cNvPr id="6" name="TextBox 5"/>
          <p:cNvSpPr txBox="1"/>
          <p:nvPr/>
        </p:nvSpPr>
        <p:spPr>
          <a:xfrm>
            <a:off x="812800" y="1905000"/>
            <a:ext cx="5080000" cy="2349500"/>
          </a:xfrm>
          <a:prstGeom prst="rect">
            <a:avLst/>
          </a:prstGeom>
          <a:noFill/>
        </p:spPr>
        <p:txBody>
          <a:bodyPr wrap="square" lIns="0" rIns="0" tIns="0" bIns="0" anchor="t">
            <a:spAutoFit/>
          </a:bodyPr>
          <a:lstStyle/>
          <a:p>
            <a:pPr algn="l">
              <a:lnSpc>
                <a:spcPct val="95000"/>
              </a:lnSpc>
            </a:pPr>
            <a:r>
              <a:rPr sz="5600" b="1">
                <a:solidFill>
                  <a:srgbClr val="F3F4EF"/>
                </a:solidFill>
                <a:latin typeface="Schibsted Grotesk"/>
              </a:rPr>
              <a:t>Applied AI, built for Sudan.</a:t>
            </a:r>
          </a:p>
        </p:txBody>
      </p:sp>
      <p:sp>
        <p:nvSpPr>
          <p:cNvPr id="7" name="TextBox 6"/>
          <p:cNvSpPr txBox="1"/>
          <p:nvPr/>
        </p:nvSpPr>
        <p:spPr>
          <a:xfrm>
            <a:off x="812800" y="4381500"/>
            <a:ext cx="5016500" cy="952500"/>
          </a:xfrm>
          <a:prstGeom prst="rect">
            <a:avLst/>
          </a:prstGeom>
          <a:noFill/>
        </p:spPr>
        <p:txBody>
          <a:bodyPr wrap="square" lIns="0" rIns="0" tIns="0" bIns="0" anchor="t">
            <a:spAutoFit/>
          </a:bodyPr>
          <a:lstStyle/>
          <a:p>
            <a:pPr algn="l">
              <a:lnSpc>
                <a:spcPct val="130000"/>
              </a:lnSpc>
            </a:pPr>
            <a:r>
              <a:rPr sz="1800" b="0">
                <a:solidFill>
                  <a:srgbClr val="B4CBDE"/>
                </a:solidFill>
                <a:latin typeface="Schibsted Grotesk"/>
              </a:rPr>
              <a:t>Our leading projects: SudaTutor, NodeGrid and SmartSelect. Three platforms, live today, designed around Sudanese realities.</a:t>
            </a:r>
          </a:p>
        </p:txBody>
      </p:sp>
      <p:sp>
        <p:nvSpPr>
          <p:cNvPr id="8" name="Rectangle 7"/>
          <p:cNvSpPr/>
          <p:nvPr/>
        </p:nvSpPr>
        <p:spPr>
          <a:xfrm>
            <a:off x="812800" y="5588000"/>
            <a:ext cx="50292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5746750"/>
            <a:ext cx="1587500" cy="292100"/>
          </a:xfrm>
          <a:prstGeom prst="rect">
            <a:avLst/>
          </a:prstGeom>
          <a:noFill/>
        </p:spPr>
        <p:txBody>
          <a:bodyPr wrap="square" lIns="0" rIns="0" tIns="0" bIns="0" anchor="t">
            <a:spAutoFit/>
          </a:bodyPr>
          <a:lstStyle/>
          <a:p>
            <a:pPr algn="l">
              <a:lnSpc>
                <a:spcPct val="100000"/>
              </a:lnSpc>
            </a:pPr>
            <a:r>
              <a:rPr sz="2000" b="1">
                <a:solidFill>
                  <a:srgbClr val="30A8D8"/>
                </a:solidFill>
                <a:latin typeface="Schibsted Grotesk"/>
              </a:rPr>
              <a:t>3 live</a:t>
            </a:r>
          </a:p>
        </p:txBody>
      </p:sp>
      <p:sp>
        <p:nvSpPr>
          <p:cNvPr id="10" name="TextBox 9"/>
          <p:cNvSpPr txBox="1"/>
          <p:nvPr/>
        </p:nvSpPr>
        <p:spPr>
          <a:xfrm>
            <a:off x="812800" y="6064250"/>
            <a:ext cx="15875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platforms in this profile</a:t>
            </a:r>
          </a:p>
        </p:txBody>
      </p:sp>
      <p:sp>
        <p:nvSpPr>
          <p:cNvPr id="11" name="TextBox 10"/>
          <p:cNvSpPr txBox="1"/>
          <p:nvPr/>
        </p:nvSpPr>
        <p:spPr>
          <a:xfrm>
            <a:off x="2590800" y="5746750"/>
            <a:ext cx="1587500" cy="292100"/>
          </a:xfrm>
          <a:prstGeom prst="rect">
            <a:avLst/>
          </a:prstGeom>
          <a:noFill/>
        </p:spPr>
        <p:txBody>
          <a:bodyPr wrap="square" lIns="0" rIns="0" tIns="0" bIns="0" anchor="t">
            <a:spAutoFit/>
          </a:bodyPr>
          <a:lstStyle/>
          <a:p>
            <a:pPr algn="l">
              <a:lnSpc>
                <a:spcPct val="100000"/>
              </a:lnSpc>
            </a:pPr>
            <a:r>
              <a:rPr sz="2000" b="1">
                <a:solidFill>
                  <a:srgbClr val="4CAF50"/>
                </a:solidFill>
                <a:latin typeface="Schibsted Grotesk"/>
              </a:rPr>
              <a:t>AR + EN</a:t>
            </a:r>
          </a:p>
        </p:txBody>
      </p:sp>
      <p:sp>
        <p:nvSpPr>
          <p:cNvPr id="12" name="TextBox 11"/>
          <p:cNvSpPr txBox="1"/>
          <p:nvPr/>
        </p:nvSpPr>
        <p:spPr>
          <a:xfrm>
            <a:off x="2590800" y="6064250"/>
            <a:ext cx="15875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Arabic-first, bilingual by design</a:t>
            </a:r>
          </a:p>
        </p:txBody>
      </p:sp>
      <p:sp>
        <p:nvSpPr>
          <p:cNvPr id="13" name="TextBox 12"/>
          <p:cNvSpPr txBox="1"/>
          <p:nvPr/>
        </p:nvSpPr>
        <p:spPr>
          <a:xfrm>
            <a:off x="4368800" y="5746750"/>
            <a:ext cx="1587500" cy="292100"/>
          </a:xfrm>
          <a:prstGeom prst="rect">
            <a:avLst/>
          </a:prstGeom>
          <a:noFill/>
        </p:spPr>
        <p:txBody>
          <a:bodyPr wrap="square" lIns="0" rIns="0" tIns="0" bIns="0" anchor="t">
            <a:spAutoFit/>
          </a:bodyPr>
          <a:lstStyle/>
          <a:p>
            <a:pPr algn="l">
              <a:lnSpc>
                <a:spcPct val="100000"/>
              </a:lnSpc>
            </a:pPr>
            <a:r>
              <a:rPr sz="2000" b="1">
                <a:solidFill>
                  <a:srgbClr val="E3A27F"/>
                </a:solidFill>
                <a:latin typeface="Schibsted Grotesk"/>
              </a:rPr>
              <a:t>Your servers</a:t>
            </a:r>
          </a:p>
        </p:txBody>
      </p:sp>
      <p:sp>
        <p:nvSpPr>
          <p:cNvPr id="14" name="TextBox 13"/>
          <p:cNvSpPr txBox="1"/>
          <p:nvPr/>
        </p:nvSpPr>
        <p:spPr>
          <a:xfrm>
            <a:off x="4368800" y="6064250"/>
            <a:ext cx="15875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self-hosted options for sensitive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EF"/>
        </a:solidFill>
        <a:effectLst/>
      </p:bgPr>
    </p:bg>
    <p:spTree>
      <p:nvGrpSpPr>
        <p:cNvPr id="1" name=""/>
        <p:cNvGrpSpPr/>
        <p:nvPr/>
      </p:nvGrpSpPr>
      <p:grpSpPr/>
      <p:sp>
        <p:nvSpPr>
          <p:cNvPr id="2" name="TextBox 1"/>
          <p:cNvSpPr txBox="1"/>
          <p:nvPr/>
        </p:nvSpPr>
        <p:spPr>
          <a:xfrm>
            <a:off x="812800" y="812800"/>
            <a:ext cx="95250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Sudanese engineers and researchers building applied AI and digital systems.</a:t>
            </a:r>
          </a:p>
        </p:txBody>
      </p:sp>
      <p:sp>
        <p:nvSpPr>
          <p:cNvPr id="3" name="TextBox 2"/>
          <p:cNvSpPr txBox="1"/>
          <p:nvPr/>
        </p:nvSpPr>
        <p:spPr>
          <a:xfrm>
            <a:off x="812800" y="2540000"/>
            <a:ext cx="4953000" cy="1270000"/>
          </a:xfrm>
          <a:prstGeom prst="rect">
            <a:avLst/>
          </a:prstGeom>
          <a:noFill/>
        </p:spPr>
        <p:txBody>
          <a:bodyPr wrap="square" lIns="0" rIns="0" tIns="0" bIns="0" anchor="t">
            <a:spAutoFit/>
          </a:bodyPr>
          <a:lstStyle/>
          <a:p>
            <a:pPr algn="l">
              <a:lnSpc>
                <a:spcPct val="140000"/>
              </a:lnSpc>
            </a:pPr>
            <a:r>
              <a:rPr sz="1600" b="0">
                <a:solidFill>
                  <a:srgbClr val="37444C"/>
                </a:solidFill>
                <a:latin typeface="Schibsted Grotesk"/>
              </a:rPr>
              <a:t>We help institutions and companies adopt AI, secure their systems and build reliable digital infrastructure. One engineering team works from the network up to the model, in Arabic and English.</a:t>
            </a:r>
          </a:p>
        </p:txBody>
      </p:sp>
      <p:sp>
        <p:nvSpPr>
          <p:cNvPr id="4" name="Rounded Rectangle 3"/>
          <p:cNvSpPr/>
          <p:nvPr/>
        </p:nvSpPr>
        <p:spPr>
          <a:xfrm>
            <a:off x="812800" y="4127500"/>
            <a:ext cx="2019300"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Infrastructure setup</a:t>
            </a:r>
          </a:p>
        </p:txBody>
      </p:sp>
      <p:sp>
        <p:nvSpPr>
          <p:cNvPr id="5" name="Rounded Rectangle 4"/>
          <p:cNvSpPr/>
          <p:nvPr/>
        </p:nvSpPr>
        <p:spPr>
          <a:xfrm>
            <a:off x="2908300" y="4127500"/>
            <a:ext cx="1247775"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AI adoption</a:t>
            </a:r>
          </a:p>
        </p:txBody>
      </p:sp>
      <p:sp>
        <p:nvSpPr>
          <p:cNvPr id="6" name="Rounded Rectangle 5"/>
          <p:cNvSpPr/>
          <p:nvPr/>
        </p:nvSpPr>
        <p:spPr>
          <a:xfrm>
            <a:off x="4232275" y="4127500"/>
            <a:ext cx="1419225"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Cybersecurity</a:t>
            </a:r>
          </a:p>
        </p:txBody>
      </p:sp>
      <p:sp>
        <p:nvSpPr>
          <p:cNvPr id="7" name="Rounded Rectangle 6"/>
          <p:cNvSpPr/>
          <p:nvPr/>
        </p:nvSpPr>
        <p:spPr>
          <a:xfrm>
            <a:off x="812800" y="4559300"/>
            <a:ext cx="1419225"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IT consulting</a:t>
            </a:r>
          </a:p>
        </p:txBody>
      </p:sp>
      <p:sp>
        <p:nvSpPr>
          <p:cNvPr id="8" name="Rounded Rectangle 7"/>
          <p:cNvSpPr/>
          <p:nvPr/>
        </p:nvSpPr>
        <p:spPr>
          <a:xfrm>
            <a:off x="2308225" y="4559300"/>
            <a:ext cx="990600"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Training</a:t>
            </a:r>
          </a:p>
        </p:txBody>
      </p:sp>
      <p:sp>
        <p:nvSpPr>
          <p:cNvPr id="9" name="Rounded Rectangle 8"/>
          <p:cNvSpPr/>
          <p:nvPr/>
        </p:nvSpPr>
        <p:spPr>
          <a:xfrm>
            <a:off x="3375025" y="4559300"/>
            <a:ext cx="1847850" cy="342900"/>
          </a:xfrm>
          <a:prstGeom prst="roundRect">
            <a:avLst>
              <a:gd name="adj" fmla="val 50000"/>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a:solidFill>
                  <a:srgbClr val="12191D"/>
                </a:solidFill>
                <a:latin typeface="Schibsted Grotesk"/>
              </a:rPr>
              <a:t>Data and analytics</a:t>
            </a:r>
          </a:p>
        </p:txBody>
      </p:sp>
      <p:sp>
        <p:nvSpPr>
          <p:cNvPr id="10" name="Rectangle 9"/>
          <p:cNvSpPr/>
          <p:nvPr/>
        </p:nvSpPr>
        <p:spPr>
          <a:xfrm>
            <a:off x="6375400" y="2540000"/>
            <a:ext cx="22606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5400" y="2692400"/>
            <a:ext cx="2260600" cy="508000"/>
          </a:xfrm>
          <a:prstGeom prst="rect">
            <a:avLst/>
          </a:prstGeom>
          <a:noFill/>
        </p:spPr>
        <p:txBody>
          <a:bodyPr wrap="square" lIns="0" rIns="0" tIns="0" bIns="0" anchor="t">
            <a:spAutoFit/>
          </a:bodyPr>
          <a:lstStyle/>
          <a:p>
            <a:pPr algn="l">
              <a:lnSpc>
                <a:spcPct val="100000"/>
              </a:lnSpc>
            </a:pPr>
            <a:r>
              <a:rPr sz="3600" b="1">
                <a:solidFill>
                  <a:srgbClr val="1873AD"/>
                </a:solidFill>
                <a:latin typeface="Schibsted Grotesk"/>
              </a:rPr>
              <a:t>10</a:t>
            </a:r>
          </a:p>
        </p:txBody>
      </p:sp>
      <p:sp>
        <p:nvSpPr>
          <p:cNvPr id="12" name="TextBox 11"/>
          <p:cNvSpPr txBox="1"/>
          <p:nvPr/>
        </p:nvSpPr>
        <p:spPr>
          <a:xfrm>
            <a:off x="6375400" y="3251200"/>
            <a:ext cx="2260600" cy="6350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projects across education, agriculture, geospatial, security and language</a:t>
            </a:r>
          </a:p>
        </p:txBody>
      </p:sp>
      <p:sp>
        <p:nvSpPr>
          <p:cNvPr id="13" name="Rectangle 12"/>
          <p:cNvSpPr/>
          <p:nvPr/>
        </p:nvSpPr>
        <p:spPr>
          <a:xfrm>
            <a:off x="8940800" y="2540000"/>
            <a:ext cx="22606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40800" y="2692400"/>
            <a:ext cx="2260600" cy="508000"/>
          </a:xfrm>
          <a:prstGeom prst="rect">
            <a:avLst/>
          </a:prstGeom>
          <a:noFill/>
        </p:spPr>
        <p:txBody>
          <a:bodyPr wrap="square" lIns="0" rIns="0" tIns="0" bIns="0" anchor="t">
            <a:spAutoFit/>
          </a:bodyPr>
          <a:lstStyle/>
          <a:p>
            <a:pPr algn="l">
              <a:lnSpc>
                <a:spcPct val="100000"/>
              </a:lnSpc>
            </a:pPr>
            <a:r>
              <a:rPr sz="3600" b="1">
                <a:solidFill>
                  <a:srgbClr val="2F7D36"/>
                </a:solidFill>
                <a:latin typeface="Schibsted Grotesk"/>
              </a:rPr>
              <a:t>7</a:t>
            </a:r>
          </a:p>
        </p:txBody>
      </p:sp>
      <p:sp>
        <p:nvSpPr>
          <p:cNvPr id="15" name="TextBox 14"/>
          <p:cNvSpPr txBox="1"/>
          <p:nvPr/>
        </p:nvSpPr>
        <p:spPr>
          <a:xfrm>
            <a:off x="8940800" y="3251200"/>
            <a:ext cx="2260600" cy="6350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engineers and researchers in the core team</a:t>
            </a:r>
          </a:p>
        </p:txBody>
      </p:sp>
      <p:sp>
        <p:nvSpPr>
          <p:cNvPr id="16" name="Rectangle 15"/>
          <p:cNvSpPr/>
          <p:nvPr/>
        </p:nvSpPr>
        <p:spPr>
          <a:xfrm>
            <a:off x="6375400" y="4000500"/>
            <a:ext cx="22606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5400" y="4152900"/>
            <a:ext cx="2260600" cy="508000"/>
          </a:xfrm>
          <a:prstGeom prst="rect">
            <a:avLst/>
          </a:prstGeom>
          <a:noFill/>
        </p:spPr>
        <p:txBody>
          <a:bodyPr wrap="square" lIns="0" rIns="0" tIns="0" bIns="0" anchor="t">
            <a:spAutoFit/>
          </a:bodyPr>
          <a:lstStyle/>
          <a:p>
            <a:pPr algn="l">
              <a:lnSpc>
                <a:spcPct val="100000"/>
              </a:lnSpc>
            </a:pPr>
            <a:r>
              <a:rPr sz="3600" b="1">
                <a:solidFill>
                  <a:srgbClr val="AB5426"/>
                </a:solidFill>
                <a:latin typeface="Schibsted Grotesk"/>
              </a:rPr>
              <a:t>2</a:t>
            </a:r>
          </a:p>
        </p:txBody>
      </p:sp>
      <p:sp>
        <p:nvSpPr>
          <p:cNvPr id="18" name="TextBox 17"/>
          <p:cNvSpPr txBox="1"/>
          <p:nvPr/>
        </p:nvSpPr>
        <p:spPr>
          <a:xfrm>
            <a:off x="6375400" y="4711700"/>
            <a:ext cx="2260600" cy="6350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peer-reviewed papers at IEEE FITAT 2026</a:t>
            </a:r>
          </a:p>
        </p:txBody>
      </p:sp>
      <p:sp>
        <p:nvSpPr>
          <p:cNvPr id="19" name="Rectangle 18"/>
          <p:cNvSpPr/>
          <p:nvPr/>
        </p:nvSpPr>
        <p:spPr>
          <a:xfrm>
            <a:off x="8940800" y="4000500"/>
            <a:ext cx="22606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40800" y="4152900"/>
            <a:ext cx="2260600" cy="508000"/>
          </a:xfrm>
          <a:prstGeom prst="rect">
            <a:avLst/>
          </a:prstGeom>
          <a:noFill/>
        </p:spPr>
        <p:txBody>
          <a:bodyPr wrap="square" lIns="0" rIns="0" tIns="0" bIns="0" anchor="t">
            <a:spAutoFit/>
          </a:bodyPr>
          <a:lstStyle/>
          <a:p>
            <a:pPr algn="l">
              <a:lnSpc>
                <a:spcPct val="100000"/>
              </a:lnSpc>
            </a:pPr>
            <a:r>
              <a:rPr sz="3600" b="1">
                <a:solidFill>
                  <a:srgbClr val="155386"/>
                </a:solidFill>
                <a:latin typeface="Schibsted Grotesk"/>
              </a:rPr>
              <a:t>6</a:t>
            </a:r>
          </a:p>
        </p:txBody>
      </p:sp>
      <p:sp>
        <p:nvSpPr>
          <p:cNvPr id="21" name="TextBox 20"/>
          <p:cNvSpPr txBox="1"/>
          <p:nvPr/>
        </p:nvSpPr>
        <p:spPr>
          <a:xfrm>
            <a:off x="8940800" y="4711700"/>
            <a:ext cx="2260600" cy="6350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research directions feeding the products</a:t>
            </a:r>
          </a:p>
        </p:txBody>
      </p:sp>
      <p:sp>
        <p:nvSpPr>
          <p:cNvPr id="22" name="TextBox 21"/>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Leading projects</a:t>
            </a:r>
          </a:p>
        </p:txBody>
      </p:sp>
      <p:sp>
        <p:nvSpPr>
          <p:cNvPr id="23" name="TextBox 22"/>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BE4"/>
        </a:solidFill>
        <a:effectLst/>
      </p:bgPr>
    </p:bg>
    <p:spTree>
      <p:nvGrpSpPr>
        <p:cNvPr id="1" name=""/>
        <p:cNvGrpSpPr/>
        <p:nvPr/>
      </p:nvGrpSpPr>
      <p:grpSpPr/>
      <p:sp>
        <p:nvSpPr>
          <p:cNvPr id="2" name="TextBox 1"/>
          <p:cNvSpPr txBox="1"/>
          <p:nvPr/>
        </p:nvSpPr>
        <p:spPr>
          <a:xfrm>
            <a:off x="812800" y="812800"/>
            <a:ext cx="82550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Global AI tools are not built around Sudan.</a:t>
            </a:r>
          </a:p>
        </p:txBody>
      </p:sp>
      <p:sp>
        <p:nvSpPr>
          <p:cNvPr id="3" name="Rectangle 2"/>
          <p:cNvSpPr/>
          <p:nvPr/>
        </p:nvSpPr>
        <p:spPr>
          <a:xfrm>
            <a:off x="812800" y="2413000"/>
            <a:ext cx="3282950" cy="19050"/>
          </a:xfrm>
          <a:prstGeom prst="rect">
            <a:avLst/>
          </a:prstGeom>
          <a:solidFill>
            <a:srgbClr val="187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616200"/>
            <a:ext cx="3282950" cy="355600"/>
          </a:xfrm>
          <a:prstGeom prst="rect">
            <a:avLst/>
          </a:prstGeom>
          <a:noFill/>
        </p:spPr>
        <p:txBody>
          <a:bodyPr wrap="square" lIns="0" rIns="0" tIns="0" bIns="0" anchor="t">
            <a:spAutoFit/>
          </a:bodyPr>
          <a:lstStyle/>
          <a:p>
            <a:pPr algn="l">
              <a:lnSpc>
                <a:spcPct val="120000"/>
              </a:lnSpc>
            </a:pPr>
            <a:r>
              <a:rPr sz="2200" b="1">
                <a:solidFill>
                  <a:srgbClr val="12191D"/>
                </a:solidFill>
                <a:latin typeface="Schibsted Grotesk"/>
              </a:rPr>
              <a:t>Language</a:t>
            </a:r>
          </a:p>
        </p:txBody>
      </p:sp>
      <p:sp>
        <p:nvSpPr>
          <p:cNvPr id="5" name="TextBox 4"/>
          <p:cNvSpPr txBox="1"/>
          <p:nvPr/>
        </p:nvSpPr>
        <p:spPr>
          <a:xfrm>
            <a:off x="812800" y="3086100"/>
            <a:ext cx="3282950" cy="1270000"/>
          </a:xfrm>
          <a:prstGeom prst="rect">
            <a:avLst/>
          </a:prstGeom>
          <a:noFill/>
        </p:spPr>
        <p:txBody>
          <a:bodyPr wrap="square" lIns="0" rIns="0" tIns="0" bIns="0" anchor="t">
            <a:spAutoFit/>
          </a:bodyPr>
          <a:lstStyle/>
          <a:p>
            <a:pPr algn="l">
              <a:lnSpc>
                <a:spcPct val="140000"/>
              </a:lnSpc>
            </a:pPr>
            <a:r>
              <a:rPr sz="1500" b="0">
                <a:solidFill>
                  <a:srgbClr val="37444C"/>
                </a:solidFill>
                <a:latin typeface="Schibsted Grotesk"/>
              </a:rPr>
              <a:t>Sudanese Arabic is a low-resource dialect. General-purpose models and tokenizers break its words apart and miss its vocabulary.</a:t>
            </a:r>
          </a:p>
        </p:txBody>
      </p:sp>
      <p:sp>
        <p:nvSpPr>
          <p:cNvPr id="6" name="Rectangle 5"/>
          <p:cNvSpPr/>
          <p:nvPr/>
        </p:nvSpPr>
        <p:spPr>
          <a:xfrm>
            <a:off x="4451350" y="2413000"/>
            <a:ext cx="3282950" cy="19050"/>
          </a:xfrm>
          <a:prstGeom prst="rect">
            <a:avLst/>
          </a:prstGeom>
          <a:solidFill>
            <a:srgbClr val="2F7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51350" y="2616200"/>
            <a:ext cx="3282950" cy="355600"/>
          </a:xfrm>
          <a:prstGeom prst="rect">
            <a:avLst/>
          </a:prstGeom>
          <a:noFill/>
        </p:spPr>
        <p:txBody>
          <a:bodyPr wrap="square" lIns="0" rIns="0" tIns="0" bIns="0" anchor="t">
            <a:spAutoFit/>
          </a:bodyPr>
          <a:lstStyle/>
          <a:p>
            <a:pPr algn="l">
              <a:lnSpc>
                <a:spcPct val="120000"/>
              </a:lnSpc>
            </a:pPr>
            <a:r>
              <a:rPr sz="2200" b="1">
                <a:solidFill>
                  <a:srgbClr val="12191D"/>
                </a:solidFill>
                <a:latin typeface="Schibsted Grotesk"/>
              </a:rPr>
              <a:t>Context</a:t>
            </a:r>
          </a:p>
        </p:txBody>
      </p:sp>
      <p:sp>
        <p:nvSpPr>
          <p:cNvPr id="8" name="TextBox 7"/>
          <p:cNvSpPr txBox="1"/>
          <p:nvPr/>
        </p:nvSpPr>
        <p:spPr>
          <a:xfrm>
            <a:off x="4451350" y="3086100"/>
            <a:ext cx="3282950" cy="1270000"/>
          </a:xfrm>
          <a:prstGeom prst="rect">
            <a:avLst/>
          </a:prstGeom>
          <a:noFill/>
        </p:spPr>
        <p:txBody>
          <a:bodyPr wrap="square" lIns="0" rIns="0" tIns="0" bIns="0" anchor="t">
            <a:spAutoFit/>
          </a:bodyPr>
          <a:lstStyle/>
          <a:p>
            <a:pPr algn="l">
              <a:lnSpc>
                <a:spcPct val="140000"/>
              </a:lnSpc>
            </a:pPr>
            <a:r>
              <a:rPr sz="1500" b="0">
                <a:solidFill>
                  <a:srgbClr val="37444C"/>
                </a:solidFill>
                <a:latin typeface="Schibsted Grotesk"/>
              </a:rPr>
              <a:t>Curricula, admission policies and institutions are local. Tools designed elsewhere do not follow them.</a:t>
            </a:r>
          </a:p>
        </p:txBody>
      </p:sp>
      <p:sp>
        <p:nvSpPr>
          <p:cNvPr id="9" name="Rectangle 8"/>
          <p:cNvSpPr/>
          <p:nvPr/>
        </p:nvSpPr>
        <p:spPr>
          <a:xfrm>
            <a:off x="8089900" y="2413000"/>
            <a:ext cx="3282950" cy="19050"/>
          </a:xfrm>
          <a:prstGeom prst="rect">
            <a:avLst/>
          </a:prstGeom>
          <a:solidFill>
            <a:srgbClr val="AB5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9900" y="2616200"/>
            <a:ext cx="3282950" cy="355600"/>
          </a:xfrm>
          <a:prstGeom prst="rect">
            <a:avLst/>
          </a:prstGeom>
          <a:noFill/>
        </p:spPr>
        <p:txBody>
          <a:bodyPr wrap="square" lIns="0" rIns="0" tIns="0" bIns="0" anchor="t">
            <a:spAutoFit/>
          </a:bodyPr>
          <a:lstStyle/>
          <a:p>
            <a:pPr algn="l">
              <a:lnSpc>
                <a:spcPct val="120000"/>
              </a:lnSpc>
            </a:pPr>
            <a:r>
              <a:rPr sz="2200" b="1">
                <a:solidFill>
                  <a:srgbClr val="12191D"/>
                </a:solidFill>
                <a:latin typeface="Schibsted Grotesk"/>
              </a:rPr>
              <a:t>Control</a:t>
            </a:r>
          </a:p>
        </p:txBody>
      </p:sp>
      <p:sp>
        <p:nvSpPr>
          <p:cNvPr id="11" name="TextBox 10"/>
          <p:cNvSpPr txBox="1"/>
          <p:nvPr/>
        </p:nvSpPr>
        <p:spPr>
          <a:xfrm>
            <a:off x="8089900" y="3086100"/>
            <a:ext cx="3282950" cy="1270000"/>
          </a:xfrm>
          <a:prstGeom prst="rect">
            <a:avLst/>
          </a:prstGeom>
          <a:noFill/>
        </p:spPr>
        <p:txBody>
          <a:bodyPr wrap="square" lIns="0" rIns="0" tIns="0" bIns="0" anchor="t">
            <a:spAutoFit/>
          </a:bodyPr>
          <a:lstStyle/>
          <a:p>
            <a:pPr algn="l">
              <a:lnSpc>
                <a:spcPct val="140000"/>
              </a:lnSpc>
            </a:pPr>
            <a:r>
              <a:rPr sz="1500" b="0">
                <a:solidFill>
                  <a:srgbClr val="37444C"/>
                </a:solidFill>
                <a:latin typeface="Schibsted Grotesk"/>
              </a:rPr>
              <a:t>Institutions need AI they can run in their own environment, with decisions they can explain and audit.</a:t>
            </a:r>
          </a:p>
        </p:txBody>
      </p:sp>
      <p:sp>
        <p:nvSpPr>
          <p:cNvPr id="12" name="Rectangle 11"/>
          <p:cNvSpPr/>
          <p:nvPr/>
        </p:nvSpPr>
        <p:spPr>
          <a:xfrm>
            <a:off x="812800" y="4826000"/>
            <a:ext cx="10566400" cy="889000"/>
          </a:xfrm>
          <a:prstGeom prst="rect">
            <a:avLst/>
          </a:prstGeom>
          <a:solidFill>
            <a:srgbClr val="0A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7600" y="4826000"/>
            <a:ext cx="9956800" cy="889000"/>
          </a:xfrm>
          <a:prstGeom prst="rect">
            <a:avLst/>
          </a:prstGeom>
          <a:noFill/>
        </p:spPr>
        <p:txBody>
          <a:bodyPr wrap="square" lIns="0" rIns="0" tIns="0" bIns="0" anchor="ctr">
            <a:spAutoFit/>
          </a:bodyPr>
          <a:lstStyle/>
          <a:p>
            <a:pPr algn="l">
              <a:lnSpc>
                <a:spcPct val="130000"/>
              </a:lnSpc>
            </a:pPr>
            <a:r>
              <a:rPr sz="1800" b="1">
                <a:solidFill>
                  <a:srgbClr val="F3F4EF"/>
                </a:solidFill>
                <a:latin typeface="Schibsted Grotesk"/>
              </a:rPr>
              <a:t>Sudaverse builds the missing layer: Arabic-first products that follow local rules and can run where the data lives.</a:t>
            </a:r>
          </a:p>
        </p:txBody>
      </p:sp>
      <p:sp>
        <p:nvSpPr>
          <p:cNvPr id="14" name="TextBox 13"/>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Leading projects</a:t>
            </a:r>
          </a:p>
        </p:txBody>
      </p:sp>
      <p:sp>
        <p:nvSpPr>
          <p:cNvPr id="15" name="TextBox 14"/>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A2C"/>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F3F4EF"/>
                </a:solidFill>
                <a:latin typeface="Schibsted Grotesk"/>
              </a:rPr>
              <a:t>Three leading projects</a:t>
            </a:r>
          </a:p>
        </p:txBody>
      </p:sp>
      <p:sp>
        <p:nvSpPr>
          <p:cNvPr id="3" name="Rectangle 2"/>
          <p:cNvSpPr/>
          <p:nvPr/>
        </p:nvSpPr>
        <p:spPr>
          <a:xfrm>
            <a:off x="812800" y="1905000"/>
            <a:ext cx="33528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2159000"/>
            <a:ext cx="1016000" cy="1016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udatutor-logo.png"/>
          <p:cNvPicPr>
            <a:picLocks noChangeAspect="1"/>
          </p:cNvPicPr>
          <p:nvPr/>
        </p:nvPicPr>
        <p:blipFill>
          <a:blip r:embed="rId3"/>
          <a:stretch>
            <a:fillRect/>
          </a:stretch>
        </p:blipFill>
        <p:spPr>
          <a:xfrm>
            <a:off x="952500" y="2371337"/>
            <a:ext cx="736600" cy="591326"/>
          </a:xfrm>
          <a:prstGeom prst="rect">
            <a:avLst/>
          </a:prstGeom>
        </p:spPr>
      </p:pic>
      <p:sp>
        <p:nvSpPr>
          <p:cNvPr id="6" name="TextBox 5"/>
          <p:cNvSpPr txBox="1"/>
          <p:nvPr/>
        </p:nvSpPr>
        <p:spPr>
          <a:xfrm>
            <a:off x="812800" y="3365500"/>
            <a:ext cx="3352800" cy="355600"/>
          </a:xfrm>
          <a:prstGeom prst="rect">
            <a:avLst/>
          </a:prstGeom>
          <a:noFill/>
        </p:spPr>
        <p:txBody>
          <a:bodyPr wrap="square" lIns="0" rIns="0" tIns="0" bIns="0" anchor="t">
            <a:spAutoFit/>
          </a:bodyPr>
          <a:lstStyle/>
          <a:p>
            <a:pPr algn="l">
              <a:lnSpc>
                <a:spcPct val="120000"/>
              </a:lnSpc>
            </a:pPr>
            <a:r>
              <a:rPr sz="2200" b="1">
                <a:solidFill>
                  <a:srgbClr val="F3F4EF"/>
                </a:solidFill>
                <a:latin typeface="Schibsted Grotesk"/>
              </a:rPr>
              <a:t>SudaTutor</a:t>
            </a:r>
          </a:p>
        </p:txBody>
      </p:sp>
      <p:sp>
        <p:nvSpPr>
          <p:cNvPr id="7" name="TextBox 6"/>
          <p:cNvSpPr txBox="1"/>
          <p:nvPr/>
        </p:nvSpPr>
        <p:spPr>
          <a:xfrm>
            <a:off x="812800" y="3810000"/>
            <a:ext cx="3352800" cy="203200"/>
          </a:xfrm>
          <a:prstGeom prst="rect">
            <a:avLst/>
          </a:prstGeom>
          <a:noFill/>
        </p:spPr>
        <p:txBody>
          <a:bodyPr wrap="square" lIns="0" rIns="0" tIns="0" bIns="0" anchor="t">
            <a:spAutoFit/>
          </a:bodyPr>
          <a:lstStyle/>
          <a:p>
            <a:pPr algn="l">
              <a:lnSpc>
                <a:spcPct val="120000"/>
              </a:lnSpc>
            </a:pPr>
            <a:r>
              <a:rPr sz="1200" b="1">
                <a:solidFill>
                  <a:srgbClr val="30A8D8"/>
                </a:solidFill>
                <a:latin typeface="Schibsted Grotesk"/>
              </a:rPr>
              <a:t>Education</a:t>
            </a:r>
          </a:p>
        </p:txBody>
      </p:sp>
      <p:sp>
        <p:nvSpPr>
          <p:cNvPr id="8" name="TextBox 7"/>
          <p:cNvSpPr txBox="1"/>
          <p:nvPr/>
        </p:nvSpPr>
        <p:spPr>
          <a:xfrm>
            <a:off x="812800" y="4127500"/>
            <a:ext cx="3352800" cy="1016000"/>
          </a:xfrm>
          <a:prstGeom prst="rect">
            <a:avLst/>
          </a:prstGeom>
          <a:noFill/>
        </p:spPr>
        <p:txBody>
          <a:bodyPr wrap="square" lIns="0" rIns="0" tIns="0" bIns="0" anchor="t">
            <a:spAutoFit/>
          </a:bodyPr>
          <a:lstStyle/>
          <a:p>
            <a:pPr algn="l">
              <a:lnSpc>
                <a:spcPct val="140000"/>
              </a:lnSpc>
            </a:pPr>
            <a:r>
              <a:rPr sz="1400" b="0">
                <a:solidFill>
                  <a:srgbClr val="B4CBDE"/>
                </a:solidFill>
                <a:latin typeface="Schibsted Grotesk"/>
              </a:rPr>
              <a:t>AI tutoring that follows the Sudanese national curriculum, adapted to each learner's level and age.</a:t>
            </a:r>
          </a:p>
        </p:txBody>
      </p:sp>
      <p:sp>
        <p:nvSpPr>
          <p:cNvPr id="9" name="TextBox 8"/>
          <p:cNvSpPr txBox="1"/>
          <p:nvPr/>
        </p:nvSpPr>
        <p:spPr>
          <a:xfrm>
            <a:off x="812800" y="5270500"/>
            <a:ext cx="3352800" cy="203200"/>
          </a:xfrm>
          <a:prstGeom prst="rect">
            <a:avLst/>
          </a:prstGeom>
          <a:noFill/>
        </p:spPr>
        <p:txBody>
          <a:bodyPr wrap="square" lIns="0" rIns="0" tIns="0" bIns="0" anchor="t">
            <a:spAutoFit/>
          </a:bodyPr>
          <a:lstStyle/>
          <a:p>
            <a:pPr algn="l">
              <a:lnSpc>
                <a:spcPct val="120000"/>
              </a:lnSpc>
            </a:pPr>
            <a:r>
              <a:rPr sz="1200" b="0">
                <a:solidFill>
                  <a:srgbClr val="DCE8F1"/>
                </a:solidFill>
                <a:latin typeface="JetBrains Mono"/>
              </a:rPr>
              <a:t>sudatutor.sudaverse.com</a:t>
            </a:r>
          </a:p>
        </p:txBody>
      </p:sp>
      <p:sp>
        <p:nvSpPr>
          <p:cNvPr id="10" name="Rectangle 9"/>
          <p:cNvSpPr/>
          <p:nvPr/>
        </p:nvSpPr>
        <p:spPr>
          <a:xfrm>
            <a:off x="4419600" y="1905000"/>
            <a:ext cx="33528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2159000"/>
            <a:ext cx="1016000" cy="1016000"/>
          </a:xfrm>
          <a:prstGeom prst="rect">
            <a:avLst/>
          </a:prstGeom>
          <a:noFill/>
          <a:ln w="6350">
            <a:solidFill>
              <a:srgbClr val="2A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odegrid-logo.png"/>
          <p:cNvPicPr>
            <a:picLocks noChangeAspect="1"/>
          </p:cNvPicPr>
          <p:nvPr/>
        </p:nvPicPr>
        <p:blipFill>
          <a:blip r:embed="rId4"/>
          <a:stretch>
            <a:fillRect/>
          </a:stretch>
        </p:blipFill>
        <p:spPr>
          <a:xfrm>
            <a:off x="4559300" y="2298700"/>
            <a:ext cx="736600" cy="736600"/>
          </a:xfrm>
          <a:prstGeom prst="rect">
            <a:avLst/>
          </a:prstGeom>
        </p:spPr>
      </p:pic>
      <p:sp>
        <p:nvSpPr>
          <p:cNvPr id="13" name="TextBox 12"/>
          <p:cNvSpPr txBox="1"/>
          <p:nvPr/>
        </p:nvSpPr>
        <p:spPr>
          <a:xfrm>
            <a:off x="4419600" y="3365500"/>
            <a:ext cx="3352800" cy="355600"/>
          </a:xfrm>
          <a:prstGeom prst="rect">
            <a:avLst/>
          </a:prstGeom>
          <a:noFill/>
        </p:spPr>
        <p:txBody>
          <a:bodyPr wrap="square" lIns="0" rIns="0" tIns="0" bIns="0" anchor="t">
            <a:spAutoFit/>
          </a:bodyPr>
          <a:lstStyle/>
          <a:p>
            <a:pPr algn="l">
              <a:lnSpc>
                <a:spcPct val="120000"/>
              </a:lnSpc>
            </a:pPr>
            <a:r>
              <a:rPr sz="2200" b="1">
                <a:solidFill>
                  <a:srgbClr val="F3F4EF"/>
                </a:solidFill>
                <a:latin typeface="Schibsted Grotesk"/>
              </a:rPr>
              <a:t>NodeGrid</a:t>
            </a:r>
          </a:p>
        </p:txBody>
      </p:sp>
      <p:sp>
        <p:nvSpPr>
          <p:cNvPr id="14" name="TextBox 13"/>
          <p:cNvSpPr txBox="1"/>
          <p:nvPr/>
        </p:nvSpPr>
        <p:spPr>
          <a:xfrm>
            <a:off x="4419600" y="3810000"/>
            <a:ext cx="3352800" cy="203200"/>
          </a:xfrm>
          <a:prstGeom prst="rect">
            <a:avLst/>
          </a:prstGeom>
          <a:noFill/>
        </p:spPr>
        <p:txBody>
          <a:bodyPr wrap="square" lIns="0" rIns="0" tIns="0" bIns="0" anchor="t">
            <a:spAutoFit/>
          </a:bodyPr>
          <a:lstStyle/>
          <a:p>
            <a:pPr algn="l">
              <a:lnSpc>
                <a:spcPct val="120000"/>
              </a:lnSpc>
            </a:pPr>
            <a:r>
              <a:rPr sz="1200" b="1">
                <a:solidFill>
                  <a:srgbClr val="4CAF50"/>
                </a:solidFill>
                <a:latin typeface="Schibsted Grotesk"/>
              </a:rPr>
              <a:t>AI infrastructure</a:t>
            </a:r>
          </a:p>
        </p:txBody>
      </p:sp>
      <p:sp>
        <p:nvSpPr>
          <p:cNvPr id="15" name="TextBox 14"/>
          <p:cNvSpPr txBox="1"/>
          <p:nvPr/>
        </p:nvSpPr>
        <p:spPr>
          <a:xfrm>
            <a:off x="4419600" y="4127500"/>
            <a:ext cx="3352800" cy="1016000"/>
          </a:xfrm>
          <a:prstGeom prst="rect">
            <a:avLst/>
          </a:prstGeom>
          <a:noFill/>
        </p:spPr>
        <p:txBody>
          <a:bodyPr wrap="square" lIns="0" rIns="0" tIns="0" bIns="0" anchor="t">
            <a:spAutoFit/>
          </a:bodyPr>
          <a:lstStyle/>
          <a:p>
            <a:pPr algn="l">
              <a:lnSpc>
                <a:spcPct val="140000"/>
              </a:lnSpc>
            </a:pPr>
            <a:r>
              <a:rPr sz="1400" b="0">
                <a:solidFill>
                  <a:srgbClr val="B4CBDE"/>
                </a:solidFill>
                <a:latin typeface="Schibsted Grotesk"/>
              </a:rPr>
              <a:t>A self-hosted control plane to build, run and supervise AI agents from the browser.</a:t>
            </a:r>
          </a:p>
        </p:txBody>
      </p:sp>
      <p:sp>
        <p:nvSpPr>
          <p:cNvPr id="16" name="TextBox 15"/>
          <p:cNvSpPr txBox="1"/>
          <p:nvPr/>
        </p:nvSpPr>
        <p:spPr>
          <a:xfrm>
            <a:off x="4419600" y="5270500"/>
            <a:ext cx="3352800" cy="203200"/>
          </a:xfrm>
          <a:prstGeom prst="rect">
            <a:avLst/>
          </a:prstGeom>
          <a:noFill/>
        </p:spPr>
        <p:txBody>
          <a:bodyPr wrap="square" lIns="0" rIns="0" tIns="0" bIns="0" anchor="t">
            <a:spAutoFit/>
          </a:bodyPr>
          <a:lstStyle/>
          <a:p>
            <a:pPr algn="l">
              <a:lnSpc>
                <a:spcPct val="120000"/>
              </a:lnSpc>
            </a:pPr>
            <a:r>
              <a:rPr sz="1200" b="0">
                <a:solidFill>
                  <a:srgbClr val="DCE8F1"/>
                </a:solidFill>
                <a:latin typeface="JetBrains Mono"/>
              </a:rPr>
              <a:t>nodegrid.sudaverse.com</a:t>
            </a:r>
          </a:p>
        </p:txBody>
      </p:sp>
      <p:sp>
        <p:nvSpPr>
          <p:cNvPr id="17" name="Rectangle 16"/>
          <p:cNvSpPr/>
          <p:nvPr/>
        </p:nvSpPr>
        <p:spPr>
          <a:xfrm>
            <a:off x="8026400" y="1905000"/>
            <a:ext cx="33528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6400" y="2159000"/>
            <a:ext cx="1016000" cy="1016000"/>
          </a:xfrm>
          <a:prstGeom prst="rect">
            <a:avLst/>
          </a:prstGeom>
          <a:noFill/>
          <a:ln w="6350">
            <a:solidFill>
              <a:srgbClr val="2A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martselect-logo.png"/>
          <p:cNvPicPr>
            <a:picLocks noChangeAspect="1"/>
          </p:cNvPicPr>
          <p:nvPr/>
        </p:nvPicPr>
        <p:blipFill>
          <a:blip r:embed="rId5"/>
          <a:stretch>
            <a:fillRect/>
          </a:stretch>
        </p:blipFill>
        <p:spPr>
          <a:xfrm>
            <a:off x="8166100" y="2298700"/>
            <a:ext cx="736600" cy="736600"/>
          </a:xfrm>
          <a:prstGeom prst="rect">
            <a:avLst/>
          </a:prstGeom>
        </p:spPr>
      </p:pic>
      <p:sp>
        <p:nvSpPr>
          <p:cNvPr id="20" name="TextBox 19"/>
          <p:cNvSpPr txBox="1"/>
          <p:nvPr/>
        </p:nvSpPr>
        <p:spPr>
          <a:xfrm>
            <a:off x="8026400" y="3365500"/>
            <a:ext cx="3352800" cy="355600"/>
          </a:xfrm>
          <a:prstGeom prst="rect">
            <a:avLst/>
          </a:prstGeom>
          <a:noFill/>
        </p:spPr>
        <p:txBody>
          <a:bodyPr wrap="square" lIns="0" rIns="0" tIns="0" bIns="0" anchor="t">
            <a:spAutoFit/>
          </a:bodyPr>
          <a:lstStyle/>
          <a:p>
            <a:pPr algn="l">
              <a:lnSpc>
                <a:spcPct val="120000"/>
              </a:lnSpc>
            </a:pPr>
            <a:r>
              <a:rPr sz="2200" b="1">
                <a:solidFill>
                  <a:srgbClr val="F3F4EF"/>
                </a:solidFill>
                <a:latin typeface="Schibsted Grotesk"/>
              </a:rPr>
              <a:t>SmartSelect</a:t>
            </a:r>
          </a:p>
        </p:txBody>
      </p:sp>
      <p:sp>
        <p:nvSpPr>
          <p:cNvPr id="21" name="TextBox 20"/>
          <p:cNvSpPr txBox="1"/>
          <p:nvPr/>
        </p:nvSpPr>
        <p:spPr>
          <a:xfrm>
            <a:off x="8026400" y="3810000"/>
            <a:ext cx="3352800" cy="203200"/>
          </a:xfrm>
          <a:prstGeom prst="rect">
            <a:avLst/>
          </a:prstGeom>
          <a:noFill/>
        </p:spPr>
        <p:txBody>
          <a:bodyPr wrap="square" lIns="0" rIns="0" tIns="0" bIns="0" anchor="t">
            <a:spAutoFit/>
          </a:bodyPr>
          <a:lstStyle/>
          <a:p>
            <a:pPr algn="l">
              <a:lnSpc>
                <a:spcPct val="120000"/>
              </a:lnSpc>
            </a:pPr>
            <a:r>
              <a:rPr sz="1200" b="1">
                <a:solidFill>
                  <a:srgbClr val="E3A27F"/>
                </a:solidFill>
                <a:latin typeface="Schibsted Grotesk"/>
              </a:rPr>
              <a:t>Selection decisions</a:t>
            </a:r>
          </a:p>
        </p:txBody>
      </p:sp>
      <p:sp>
        <p:nvSpPr>
          <p:cNvPr id="22" name="TextBox 21"/>
          <p:cNvSpPr txBox="1"/>
          <p:nvPr/>
        </p:nvSpPr>
        <p:spPr>
          <a:xfrm>
            <a:off x="8026400" y="4127500"/>
            <a:ext cx="3352800" cy="1016000"/>
          </a:xfrm>
          <a:prstGeom prst="rect">
            <a:avLst/>
          </a:prstGeom>
          <a:noFill/>
        </p:spPr>
        <p:txBody>
          <a:bodyPr wrap="square" lIns="0" rIns="0" tIns="0" bIns="0" anchor="t">
            <a:spAutoFit/>
          </a:bodyPr>
          <a:lstStyle/>
          <a:p>
            <a:pPr algn="l">
              <a:lnSpc>
                <a:spcPct val="140000"/>
              </a:lnSpc>
            </a:pPr>
            <a:r>
              <a:rPr sz="1400" b="0">
                <a:solidFill>
                  <a:srgbClr val="B4CBDE"/>
                </a:solidFill>
                <a:latin typeface="Schibsted Grotesk"/>
              </a:rPr>
              <a:t>Explainable decision support for admission, hiring, promotion and scholarships.</a:t>
            </a:r>
          </a:p>
        </p:txBody>
      </p:sp>
      <p:sp>
        <p:nvSpPr>
          <p:cNvPr id="23" name="TextBox 22"/>
          <p:cNvSpPr txBox="1"/>
          <p:nvPr/>
        </p:nvSpPr>
        <p:spPr>
          <a:xfrm>
            <a:off x="8026400" y="5270500"/>
            <a:ext cx="3352800" cy="203200"/>
          </a:xfrm>
          <a:prstGeom prst="rect">
            <a:avLst/>
          </a:prstGeom>
          <a:noFill/>
        </p:spPr>
        <p:txBody>
          <a:bodyPr wrap="square" lIns="0" rIns="0" tIns="0" bIns="0" anchor="t">
            <a:spAutoFit/>
          </a:bodyPr>
          <a:lstStyle/>
          <a:p>
            <a:pPr algn="l">
              <a:lnSpc>
                <a:spcPct val="120000"/>
              </a:lnSpc>
            </a:pPr>
            <a:r>
              <a:rPr sz="1200" b="0">
                <a:solidFill>
                  <a:srgbClr val="DCE8F1"/>
                </a:solidFill>
                <a:latin typeface="JetBrains Mono"/>
              </a:rPr>
              <a:t>smartselect.sudaverse.com</a:t>
            </a:r>
          </a:p>
        </p:txBody>
      </p:sp>
      <p:sp>
        <p:nvSpPr>
          <p:cNvPr id="24" name="TextBox 23"/>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B4CBDE"/>
                </a:solidFill>
                <a:latin typeface="Schibsted Grotesk"/>
              </a:rPr>
              <a:t>Sudaverse  |  Leading projects</a:t>
            </a:r>
          </a:p>
        </p:txBody>
      </p:sp>
      <p:sp>
        <p:nvSpPr>
          <p:cNvPr id="25" name="TextBox 24"/>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B4CBDE"/>
                </a:solidFill>
                <a:latin typeface="JetBrains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EF"/>
        </a:solidFill>
        <a:effectLst/>
      </p:bgPr>
    </p:bg>
    <p:spTree>
      <p:nvGrpSpPr>
        <p:cNvPr id="1" name=""/>
        <p:cNvGrpSpPr/>
        <p:nvPr/>
      </p:nvGrpSpPr>
      <p:grpSpPr/>
      <p:pic>
        <p:nvPicPr>
          <p:cNvPr id="2" name="Picture 1" descr="sudatutor-logo.png"/>
          <p:cNvPicPr>
            <a:picLocks noChangeAspect="1"/>
          </p:cNvPicPr>
          <p:nvPr/>
        </p:nvPicPr>
        <p:blipFill>
          <a:blip r:embed="rId3"/>
          <a:stretch>
            <a:fillRect/>
          </a:stretch>
        </p:blipFill>
        <p:spPr>
          <a:xfrm>
            <a:off x="814118" y="952500"/>
            <a:ext cx="759363" cy="609600"/>
          </a:xfrm>
          <a:prstGeom prst="rect">
            <a:avLst/>
          </a:prstGeom>
        </p:spPr>
      </p:pic>
      <p:sp>
        <p:nvSpPr>
          <p:cNvPr id="3" name="TextBox 2"/>
          <p:cNvSpPr txBox="1"/>
          <p:nvPr/>
        </p:nvSpPr>
        <p:spPr>
          <a:xfrm>
            <a:off x="812800" y="1714500"/>
            <a:ext cx="4826000" cy="165100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Learn the Sudanese curriculum with AI assistance.</a:t>
            </a:r>
          </a:p>
        </p:txBody>
      </p:sp>
      <p:sp>
        <p:nvSpPr>
          <p:cNvPr id="4" name="TextBox 3"/>
          <p:cNvSpPr txBox="1"/>
          <p:nvPr/>
        </p:nvSpPr>
        <p:spPr>
          <a:xfrm>
            <a:off x="812800" y="3429000"/>
            <a:ext cx="4826000" cy="1143000"/>
          </a:xfrm>
          <a:prstGeom prst="rect">
            <a:avLst/>
          </a:prstGeom>
          <a:noFill/>
        </p:spPr>
        <p:txBody>
          <a:bodyPr wrap="square" lIns="0" rIns="0" tIns="0" bIns="0" anchor="t">
            <a:spAutoFit/>
          </a:bodyPr>
          <a:lstStyle/>
          <a:p>
            <a:pPr algn="l">
              <a:lnSpc>
                <a:spcPct val="145000"/>
              </a:lnSpc>
            </a:pPr>
            <a:r>
              <a:rPr sz="1400" b="0">
                <a:solidFill>
                  <a:srgbClr val="37444C"/>
                </a:solidFill>
                <a:latin typeface="Schibsted Grotesk"/>
              </a:rPr>
              <a:t>Learners need explanations that match their grade, their books and their context. SudaTutor is built around the curriculum itself and adapts each explanation to the learner's level and age.</a:t>
            </a:r>
          </a:p>
        </p:txBody>
      </p:sp>
      <p:sp>
        <p:nvSpPr>
          <p:cNvPr id="5" name="Rectangle 4"/>
          <p:cNvSpPr/>
          <p:nvPr/>
        </p:nvSpPr>
        <p:spPr>
          <a:xfrm>
            <a:off x="812800" y="4699000"/>
            <a:ext cx="48260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876800"/>
            <a:ext cx="1524000" cy="467360"/>
          </a:xfrm>
          <a:prstGeom prst="rect">
            <a:avLst/>
          </a:prstGeom>
          <a:noFill/>
        </p:spPr>
        <p:txBody>
          <a:bodyPr wrap="square" lIns="0" rIns="0" tIns="0" bIns="0" anchor="t">
            <a:spAutoFit/>
          </a:bodyPr>
          <a:lstStyle/>
          <a:p>
            <a:pPr algn="l">
              <a:lnSpc>
                <a:spcPct val="100000"/>
              </a:lnSpc>
            </a:pPr>
            <a:r>
              <a:rPr sz="3200" b="1">
                <a:solidFill>
                  <a:srgbClr val="1873AD"/>
                </a:solidFill>
                <a:latin typeface="Schibsted Grotesk"/>
              </a:rPr>
              <a:t>12</a:t>
            </a:r>
          </a:p>
        </p:txBody>
      </p:sp>
      <p:sp>
        <p:nvSpPr>
          <p:cNvPr id="7" name="TextBox 6"/>
          <p:cNvSpPr txBox="1"/>
          <p:nvPr/>
        </p:nvSpPr>
        <p:spPr>
          <a:xfrm>
            <a:off x="812800" y="5384800"/>
            <a:ext cx="15240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grade levels</a:t>
            </a:r>
          </a:p>
        </p:txBody>
      </p:sp>
      <p:sp>
        <p:nvSpPr>
          <p:cNvPr id="8" name="TextBox 7"/>
          <p:cNvSpPr txBox="1"/>
          <p:nvPr/>
        </p:nvSpPr>
        <p:spPr>
          <a:xfrm>
            <a:off x="2489200" y="4876800"/>
            <a:ext cx="1524000" cy="467360"/>
          </a:xfrm>
          <a:prstGeom prst="rect">
            <a:avLst/>
          </a:prstGeom>
          <a:noFill/>
        </p:spPr>
        <p:txBody>
          <a:bodyPr wrap="square" lIns="0" rIns="0" tIns="0" bIns="0" anchor="t">
            <a:spAutoFit/>
          </a:bodyPr>
          <a:lstStyle/>
          <a:p>
            <a:pPr algn="l">
              <a:lnSpc>
                <a:spcPct val="100000"/>
              </a:lnSpc>
            </a:pPr>
            <a:r>
              <a:rPr sz="3200" b="1">
                <a:solidFill>
                  <a:srgbClr val="1873AD"/>
                </a:solidFill>
                <a:latin typeface="Schibsted Grotesk"/>
              </a:rPr>
              <a:t>117</a:t>
            </a:r>
          </a:p>
        </p:txBody>
      </p:sp>
      <p:sp>
        <p:nvSpPr>
          <p:cNvPr id="9" name="TextBox 8"/>
          <p:cNvSpPr txBox="1"/>
          <p:nvPr/>
        </p:nvSpPr>
        <p:spPr>
          <a:xfrm>
            <a:off x="2489200" y="5384800"/>
            <a:ext cx="15240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curriculum books</a:t>
            </a:r>
          </a:p>
        </p:txBody>
      </p:sp>
      <p:sp>
        <p:nvSpPr>
          <p:cNvPr id="10" name="TextBox 9"/>
          <p:cNvSpPr txBox="1"/>
          <p:nvPr/>
        </p:nvSpPr>
        <p:spPr>
          <a:xfrm>
            <a:off x="4165600" y="4876800"/>
            <a:ext cx="1524000" cy="467360"/>
          </a:xfrm>
          <a:prstGeom prst="rect">
            <a:avLst/>
          </a:prstGeom>
          <a:noFill/>
        </p:spPr>
        <p:txBody>
          <a:bodyPr wrap="square" lIns="0" rIns="0" tIns="0" bIns="0" anchor="t">
            <a:spAutoFit/>
          </a:bodyPr>
          <a:lstStyle/>
          <a:p>
            <a:pPr algn="l">
              <a:lnSpc>
                <a:spcPct val="100000"/>
              </a:lnSpc>
            </a:pPr>
            <a:r>
              <a:rPr sz="3200" b="1">
                <a:solidFill>
                  <a:srgbClr val="1873AD"/>
                </a:solidFill>
                <a:latin typeface="Schibsted Grotesk"/>
              </a:rPr>
              <a:t>24/7</a:t>
            </a:r>
          </a:p>
        </p:txBody>
      </p:sp>
      <p:sp>
        <p:nvSpPr>
          <p:cNvPr id="11" name="TextBox 10"/>
          <p:cNvSpPr txBox="1"/>
          <p:nvPr/>
        </p:nvSpPr>
        <p:spPr>
          <a:xfrm>
            <a:off x="4165600" y="5384800"/>
            <a:ext cx="15240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available</a:t>
            </a:r>
          </a:p>
        </p:txBody>
      </p:sp>
      <p:pic>
        <p:nvPicPr>
          <p:cNvPr id="12" name="Picture 11" descr="sudatutor.png"/>
          <p:cNvPicPr>
            <a:picLocks noChangeAspect="1"/>
          </p:cNvPicPr>
          <p:nvPr/>
        </p:nvPicPr>
        <p:blipFill>
          <a:blip r:embed="rId4"/>
          <a:srcRect/>
          <a:stretch>
            <a:fillRect/>
          </a:stretch>
        </p:blipFill>
        <p:spPr>
          <a:xfrm>
            <a:off x="6146800" y="1651000"/>
            <a:ext cx="5232400" cy="3270250"/>
          </a:xfrm>
          <a:prstGeom prst="rect">
            <a:avLst/>
          </a:prstGeom>
        </p:spPr>
      </p:pic>
      <p:sp>
        <p:nvSpPr>
          <p:cNvPr id="13" name="Rectangle 12"/>
          <p:cNvSpPr/>
          <p:nvPr/>
        </p:nvSpPr>
        <p:spPr>
          <a:xfrm>
            <a:off x="6146800" y="1651000"/>
            <a:ext cx="5232400" cy="3270250"/>
          </a:xfrm>
          <a:prstGeom prst="rect">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6800" y="5080000"/>
            <a:ext cx="52324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JetBrains Mono"/>
              </a:rPr>
              <a:t>sudatutor.sudaverse.com  |  Live</a:t>
            </a:r>
          </a:p>
        </p:txBody>
      </p:sp>
      <p:sp>
        <p:nvSpPr>
          <p:cNvPr id="15" name="TextBox 14"/>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SudaTutor</a:t>
            </a:r>
          </a:p>
        </p:txBody>
      </p:sp>
      <p:sp>
        <p:nvSpPr>
          <p:cNvPr id="16" name="TextBox 15"/>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BE4"/>
        </a:solidFill>
        <a:effectLst/>
      </p:bgPr>
    </p:bg>
    <p:spTree>
      <p:nvGrpSpPr>
        <p:cNvPr id="1" name=""/>
        <p:cNvGrpSpPr/>
        <p:nvPr/>
      </p:nvGrpSpPr>
      <p:grpSpPr/>
      <p:pic>
        <p:nvPicPr>
          <p:cNvPr id="2" name="Picture 1" descr="classroom.jpg"/>
          <p:cNvPicPr>
            <a:picLocks noChangeAspect="1"/>
          </p:cNvPicPr>
          <p:nvPr/>
        </p:nvPicPr>
        <p:blipFill>
          <a:blip r:embed="rId3"/>
          <a:srcRect l="26532" r="26532"/>
          <a:stretch>
            <a:fillRect/>
          </a:stretch>
        </p:blipFill>
        <p:spPr>
          <a:xfrm>
            <a:off x="0" y="0"/>
            <a:ext cx="4826000" cy="6858000"/>
          </a:xfrm>
          <a:prstGeom prst="rect">
            <a:avLst/>
          </a:prstGeom>
        </p:spPr>
      </p:pic>
      <p:sp>
        <p:nvSpPr>
          <p:cNvPr id="3" name="TextBox 2"/>
          <p:cNvSpPr txBox="1"/>
          <p:nvPr/>
        </p:nvSpPr>
        <p:spPr>
          <a:xfrm>
            <a:off x="254000" y="6350000"/>
            <a:ext cx="4318000" cy="203200"/>
          </a:xfrm>
          <a:prstGeom prst="rect">
            <a:avLst/>
          </a:prstGeom>
          <a:noFill/>
        </p:spPr>
        <p:txBody>
          <a:bodyPr wrap="square" lIns="0" rIns="0" tIns="0" bIns="0" anchor="t">
            <a:spAutoFit/>
          </a:bodyPr>
          <a:lstStyle/>
          <a:p>
            <a:pPr algn="l">
              <a:lnSpc>
                <a:spcPct val="120000"/>
              </a:lnSpc>
            </a:pPr>
            <a:r>
              <a:rPr sz="1200" b="0">
                <a:solidFill>
                  <a:srgbClr val="F3F4EF"/>
                </a:solidFill>
                <a:latin typeface="Schibsted Grotesk"/>
              </a:rPr>
              <a:t>Photo: African Union Mission in Somalia, public domain</a:t>
            </a:r>
          </a:p>
        </p:txBody>
      </p:sp>
      <p:sp>
        <p:nvSpPr>
          <p:cNvPr id="4" name="TextBox 3"/>
          <p:cNvSpPr txBox="1"/>
          <p:nvPr/>
        </p:nvSpPr>
        <p:spPr>
          <a:xfrm>
            <a:off x="5537200" y="812800"/>
            <a:ext cx="58420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How a learner uses it</a:t>
            </a:r>
          </a:p>
        </p:txBody>
      </p:sp>
      <p:sp>
        <p:nvSpPr>
          <p:cNvPr id="5" name="Rectangle 4"/>
          <p:cNvSpPr/>
          <p:nvPr/>
        </p:nvSpPr>
        <p:spPr>
          <a:xfrm>
            <a:off x="5537200" y="1905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7200" y="2070100"/>
            <a:ext cx="444500" cy="254000"/>
          </a:xfrm>
          <a:prstGeom prst="rect">
            <a:avLst/>
          </a:prstGeom>
          <a:noFill/>
        </p:spPr>
        <p:txBody>
          <a:bodyPr wrap="square" lIns="0" rIns="0" tIns="0" bIns="0" anchor="t">
            <a:spAutoFit/>
          </a:bodyPr>
          <a:lstStyle/>
          <a:p>
            <a:pPr algn="l">
              <a:lnSpc>
                <a:spcPct val="120000"/>
              </a:lnSpc>
            </a:pPr>
            <a:r>
              <a:rPr sz="1400" b="0">
                <a:solidFill>
                  <a:srgbClr val="1873AD"/>
                </a:solidFill>
                <a:latin typeface="JetBrains Mono"/>
              </a:rPr>
              <a:t>01</a:t>
            </a:r>
          </a:p>
        </p:txBody>
      </p:sp>
      <p:sp>
        <p:nvSpPr>
          <p:cNvPr id="7" name="TextBox 6"/>
          <p:cNvSpPr txBox="1"/>
          <p:nvPr/>
        </p:nvSpPr>
        <p:spPr>
          <a:xfrm>
            <a:off x="6146800" y="2044700"/>
            <a:ext cx="139700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Start</a:t>
            </a:r>
          </a:p>
        </p:txBody>
      </p:sp>
      <p:sp>
        <p:nvSpPr>
          <p:cNvPr id="8" name="TextBox 7"/>
          <p:cNvSpPr txBox="1"/>
          <p:nvPr/>
        </p:nvSpPr>
        <p:spPr>
          <a:xfrm>
            <a:off x="7747000" y="2057400"/>
            <a:ext cx="3632200" cy="444500"/>
          </a:xfrm>
          <a:prstGeom prst="rect">
            <a:avLst/>
          </a:prstGeom>
          <a:noFill/>
        </p:spPr>
        <p:txBody>
          <a:bodyPr wrap="square" lIns="0" rIns="0" tIns="0" bIns="0" anchor="t">
            <a:spAutoFit/>
          </a:bodyPr>
          <a:lstStyle/>
          <a:p>
            <a:pPr algn="l">
              <a:lnSpc>
                <a:spcPct val="125000"/>
              </a:lnSpc>
            </a:pPr>
            <a:r>
              <a:rPr sz="1400" b="0">
                <a:solidFill>
                  <a:srgbClr val="37444C"/>
                </a:solidFill>
                <a:latin typeface="Schibsted Grotesk"/>
              </a:rPr>
              <a:t>Begin as a guest, or create a free account.</a:t>
            </a:r>
          </a:p>
        </p:txBody>
      </p:sp>
      <p:sp>
        <p:nvSpPr>
          <p:cNvPr id="9" name="Rectangle 8"/>
          <p:cNvSpPr/>
          <p:nvPr/>
        </p:nvSpPr>
        <p:spPr>
          <a:xfrm>
            <a:off x="5537200" y="2540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7200" y="2705100"/>
            <a:ext cx="444500" cy="254000"/>
          </a:xfrm>
          <a:prstGeom prst="rect">
            <a:avLst/>
          </a:prstGeom>
          <a:noFill/>
        </p:spPr>
        <p:txBody>
          <a:bodyPr wrap="square" lIns="0" rIns="0" tIns="0" bIns="0" anchor="t">
            <a:spAutoFit/>
          </a:bodyPr>
          <a:lstStyle/>
          <a:p>
            <a:pPr algn="l">
              <a:lnSpc>
                <a:spcPct val="120000"/>
              </a:lnSpc>
            </a:pPr>
            <a:r>
              <a:rPr sz="1400" b="0">
                <a:solidFill>
                  <a:srgbClr val="1873AD"/>
                </a:solidFill>
                <a:latin typeface="JetBrains Mono"/>
              </a:rPr>
              <a:t>02</a:t>
            </a:r>
          </a:p>
        </p:txBody>
      </p:sp>
      <p:sp>
        <p:nvSpPr>
          <p:cNvPr id="11" name="TextBox 10"/>
          <p:cNvSpPr txBox="1"/>
          <p:nvPr/>
        </p:nvSpPr>
        <p:spPr>
          <a:xfrm>
            <a:off x="6146800" y="2679700"/>
            <a:ext cx="139700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Choose</a:t>
            </a:r>
          </a:p>
        </p:txBody>
      </p:sp>
      <p:sp>
        <p:nvSpPr>
          <p:cNvPr id="12" name="TextBox 11"/>
          <p:cNvSpPr txBox="1"/>
          <p:nvPr/>
        </p:nvSpPr>
        <p:spPr>
          <a:xfrm>
            <a:off x="7747000" y="2692400"/>
            <a:ext cx="3632200" cy="444500"/>
          </a:xfrm>
          <a:prstGeom prst="rect">
            <a:avLst/>
          </a:prstGeom>
          <a:noFill/>
        </p:spPr>
        <p:txBody>
          <a:bodyPr wrap="square" lIns="0" rIns="0" tIns="0" bIns="0" anchor="t">
            <a:spAutoFit/>
          </a:bodyPr>
          <a:lstStyle/>
          <a:p>
            <a:pPr algn="l">
              <a:lnSpc>
                <a:spcPct val="125000"/>
              </a:lnSpc>
            </a:pPr>
            <a:r>
              <a:rPr sz="1400" b="0">
                <a:solidFill>
                  <a:srgbClr val="37444C"/>
                </a:solidFill>
                <a:latin typeface="Schibsted Grotesk"/>
              </a:rPr>
              <a:t>Pick your grade and the book you are studying.</a:t>
            </a:r>
          </a:p>
        </p:txBody>
      </p:sp>
      <p:sp>
        <p:nvSpPr>
          <p:cNvPr id="13" name="Rectangle 12"/>
          <p:cNvSpPr/>
          <p:nvPr/>
        </p:nvSpPr>
        <p:spPr>
          <a:xfrm>
            <a:off x="5537200" y="3175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7200" y="3340100"/>
            <a:ext cx="444500" cy="254000"/>
          </a:xfrm>
          <a:prstGeom prst="rect">
            <a:avLst/>
          </a:prstGeom>
          <a:noFill/>
        </p:spPr>
        <p:txBody>
          <a:bodyPr wrap="square" lIns="0" rIns="0" tIns="0" bIns="0" anchor="t">
            <a:spAutoFit/>
          </a:bodyPr>
          <a:lstStyle/>
          <a:p>
            <a:pPr algn="l">
              <a:lnSpc>
                <a:spcPct val="120000"/>
              </a:lnSpc>
            </a:pPr>
            <a:r>
              <a:rPr sz="1400" b="0">
                <a:solidFill>
                  <a:srgbClr val="1873AD"/>
                </a:solidFill>
                <a:latin typeface="JetBrains Mono"/>
              </a:rPr>
              <a:t>03</a:t>
            </a:r>
          </a:p>
        </p:txBody>
      </p:sp>
      <p:sp>
        <p:nvSpPr>
          <p:cNvPr id="15" name="TextBox 14"/>
          <p:cNvSpPr txBox="1"/>
          <p:nvPr/>
        </p:nvSpPr>
        <p:spPr>
          <a:xfrm>
            <a:off x="6146800" y="3314700"/>
            <a:ext cx="139700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Ask</a:t>
            </a:r>
          </a:p>
        </p:txBody>
      </p:sp>
      <p:sp>
        <p:nvSpPr>
          <p:cNvPr id="16" name="TextBox 15"/>
          <p:cNvSpPr txBox="1"/>
          <p:nvPr/>
        </p:nvSpPr>
        <p:spPr>
          <a:xfrm>
            <a:off x="7747000" y="3327400"/>
            <a:ext cx="3632200" cy="444500"/>
          </a:xfrm>
          <a:prstGeom prst="rect">
            <a:avLst/>
          </a:prstGeom>
          <a:noFill/>
        </p:spPr>
        <p:txBody>
          <a:bodyPr wrap="square" lIns="0" rIns="0" tIns="0" bIns="0" anchor="t">
            <a:spAutoFit/>
          </a:bodyPr>
          <a:lstStyle/>
          <a:p>
            <a:pPr algn="l">
              <a:lnSpc>
                <a:spcPct val="125000"/>
              </a:lnSpc>
            </a:pPr>
            <a:r>
              <a:rPr sz="1400" b="0">
                <a:solidFill>
                  <a:srgbClr val="37444C"/>
                </a:solidFill>
                <a:latin typeface="Schibsted Grotesk"/>
              </a:rPr>
              <a:t>Ask about a lesson, in Arabic.</a:t>
            </a:r>
          </a:p>
        </p:txBody>
      </p:sp>
      <p:sp>
        <p:nvSpPr>
          <p:cNvPr id="17" name="Rectangle 16"/>
          <p:cNvSpPr/>
          <p:nvPr/>
        </p:nvSpPr>
        <p:spPr>
          <a:xfrm>
            <a:off x="5537200" y="3810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7200" y="3975100"/>
            <a:ext cx="444500" cy="254000"/>
          </a:xfrm>
          <a:prstGeom prst="rect">
            <a:avLst/>
          </a:prstGeom>
          <a:noFill/>
        </p:spPr>
        <p:txBody>
          <a:bodyPr wrap="square" lIns="0" rIns="0" tIns="0" bIns="0" anchor="t">
            <a:spAutoFit/>
          </a:bodyPr>
          <a:lstStyle/>
          <a:p>
            <a:pPr algn="l">
              <a:lnSpc>
                <a:spcPct val="120000"/>
              </a:lnSpc>
            </a:pPr>
            <a:r>
              <a:rPr sz="1400" b="0">
                <a:solidFill>
                  <a:srgbClr val="1873AD"/>
                </a:solidFill>
                <a:latin typeface="JetBrains Mono"/>
              </a:rPr>
              <a:t>04</a:t>
            </a:r>
          </a:p>
        </p:txBody>
      </p:sp>
      <p:sp>
        <p:nvSpPr>
          <p:cNvPr id="19" name="TextBox 18"/>
          <p:cNvSpPr txBox="1"/>
          <p:nvPr/>
        </p:nvSpPr>
        <p:spPr>
          <a:xfrm>
            <a:off x="6146800" y="3949700"/>
            <a:ext cx="139700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Learn</a:t>
            </a:r>
          </a:p>
        </p:txBody>
      </p:sp>
      <p:sp>
        <p:nvSpPr>
          <p:cNvPr id="20" name="TextBox 19"/>
          <p:cNvSpPr txBox="1"/>
          <p:nvPr/>
        </p:nvSpPr>
        <p:spPr>
          <a:xfrm>
            <a:off x="7747000" y="3962400"/>
            <a:ext cx="3632200" cy="444500"/>
          </a:xfrm>
          <a:prstGeom prst="rect">
            <a:avLst/>
          </a:prstGeom>
          <a:noFill/>
        </p:spPr>
        <p:txBody>
          <a:bodyPr wrap="square" lIns="0" rIns="0" tIns="0" bIns="0" anchor="t">
            <a:spAutoFit/>
          </a:bodyPr>
          <a:lstStyle/>
          <a:p>
            <a:pPr algn="l">
              <a:lnSpc>
                <a:spcPct val="125000"/>
              </a:lnSpc>
            </a:pPr>
            <a:r>
              <a:rPr sz="1400" b="0">
                <a:solidFill>
                  <a:srgbClr val="37444C"/>
                </a:solidFill>
                <a:latin typeface="Schibsted Grotesk"/>
              </a:rPr>
              <a:t>Get an explanation adapted to your level and age.</a:t>
            </a:r>
          </a:p>
        </p:txBody>
      </p:sp>
      <p:sp>
        <p:nvSpPr>
          <p:cNvPr id="21" name="Rectangle 20"/>
          <p:cNvSpPr/>
          <p:nvPr/>
        </p:nvSpPr>
        <p:spPr>
          <a:xfrm>
            <a:off x="5537200" y="4445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7200" y="4610100"/>
            <a:ext cx="444500" cy="254000"/>
          </a:xfrm>
          <a:prstGeom prst="rect">
            <a:avLst/>
          </a:prstGeom>
          <a:noFill/>
        </p:spPr>
        <p:txBody>
          <a:bodyPr wrap="square" lIns="0" rIns="0" tIns="0" bIns="0" anchor="t">
            <a:spAutoFit/>
          </a:bodyPr>
          <a:lstStyle/>
          <a:p>
            <a:pPr algn="l">
              <a:lnSpc>
                <a:spcPct val="120000"/>
              </a:lnSpc>
            </a:pPr>
            <a:r>
              <a:rPr sz="1400" b="0">
                <a:solidFill>
                  <a:srgbClr val="1873AD"/>
                </a:solidFill>
                <a:latin typeface="JetBrains Mono"/>
              </a:rPr>
              <a:t>05</a:t>
            </a:r>
          </a:p>
        </p:txBody>
      </p:sp>
      <p:sp>
        <p:nvSpPr>
          <p:cNvPr id="23" name="TextBox 22"/>
          <p:cNvSpPr txBox="1"/>
          <p:nvPr/>
        </p:nvSpPr>
        <p:spPr>
          <a:xfrm>
            <a:off x="6146800" y="4584700"/>
            <a:ext cx="139700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Track</a:t>
            </a:r>
          </a:p>
        </p:txBody>
      </p:sp>
      <p:sp>
        <p:nvSpPr>
          <p:cNvPr id="24" name="TextBox 23"/>
          <p:cNvSpPr txBox="1"/>
          <p:nvPr/>
        </p:nvSpPr>
        <p:spPr>
          <a:xfrm>
            <a:off x="7747000" y="4597400"/>
            <a:ext cx="3632200" cy="444500"/>
          </a:xfrm>
          <a:prstGeom prst="rect">
            <a:avLst/>
          </a:prstGeom>
          <a:noFill/>
        </p:spPr>
        <p:txBody>
          <a:bodyPr wrap="square" lIns="0" rIns="0" tIns="0" bIns="0" anchor="t">
            <a:spAutoFit/>
          </a:bodyPr>
          <a:lstStyle/>
          <a:p>
            <a:pPr algn="l">
              <a:lnSpc>
                <a:spcPct val="125000"/>
              </a:lnSpc>
            </a:pPr>
            <a:r>
              <a:rPr sz="1400" b="0">
                <a:solidFill>
                  <a:srgbClr val="37444C"/>
                </a:solidFill>
                <a:latin typeface="Schibsted Grotesk"/>
              </a:rPr>
              <a:t>Follow progress through continuous assessment.</a:t>
            </a:r>
          </a:p>
        </p:txBody>
      </p:sp>
      <p:sp>
        <p:nvSpPr>
          <p:cNvPr id="25" name="Rectangle 24"/>
          <p:cNvSpPr/>
          <p:nvPr/>
        </p:nvSpPr>
        <p:spPr>
          <a:xfrm>
            <a:off x="5537200" y="5080000"/>
            <a:ext cx="58420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37200" y="5270500"/>
            <a:ext cx="5842000" cy="571500"/>
          </a:xfrm>
          <a:prstGeom prst="rect">
            <a:avLst/>
          </a:prstGeom>
          <a:noFill/>
        </p:spPr>
        <p:txBody>
          <a:bodyPr wrap="square" lIns="0" rIns="0" tIns="0" bIns="0" anchor="t">
            <a:spAutoFit/>
          </a:bodyPr>
          <a:lstStyle/>
          <a:p>
            <a:pPr algn="l">
              <a:lnSpc>
                <a:spcPct val="140000"/>
              </a:lnSpc>
            </a:pPr>
            <a:r>
              <a:rPr sz="1400" b="1">
                <a:solidFill>
                  <a:srgbClr val="12191D"/>
                </a:solidFill>
                <a:latin typeface="Schibsted Grotesk"/>
              </a:rPr>
              <a:t>Built for </a:t>
            </a:r>
            <a:r>
              <a:rPr sz="1400" b="0">
                <a:solidFill>
                  <a:srgbClr val="37444C"/>
                </a:solidFill>
                <a:latin typeface="Schibsted Grotesk"/>
              </a:rPr>
              <a:t>learners studying the Sudanese national curriculum, and the schools and families supporting them.</a:t>
            </a:r>
          </a:p>
        </p:txBody>
      </p:sp>
      <p:sp>
        <p:nvSpPr>
          <p:cNvPr id="27" name="TextBox 26"/>
          <p:cNvSpPr txBox="1"/>
          <p:nvPr/>
        </p:nvSpPr>
        <p:spPr>
          <a:xfrm>
            <a:off x="55372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SudaTutor</a:t>
            </a:r>
          </a:p>
        </p:txBody>
      </p:sp>
      <p:sp>
        <p:nvSpPr>
          <p:cNvPr id="28" name="TextBox 27"/>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A2C"/>
        </a:solidFill>
        <a:effectLst/>
      </p:bgPr>
    </p:bg>
    <p:spTree>
      <p:nvGrpSpPr>
        <p:cNvPr id="1" name=""/>
        <p:cNvGrpSpPr/>
        <p:nvPr/>
      </p:nvGrpSpPr>
      <p:grpSpPr/>
      <p:pic>
        <p:nvPicPr>
          <p:cNvPr id="2" name="Picture 1" descr="servers.jpg"/>
          <p:cNvPicPr>
            <a:picLocks noChangeAspect="1"/>
          </p:cNvPicPr>
          <p:nvPr/>
        </p:nvPicPr>
        <p:blipFill>
          <a:blip r:embed="rId3"/>
          <a:srcRect l="28646" r="28646"/>
          <a:stretch>
            <a:fillRect/>
          </a:stretch>
        </p:blipFill>
        <p:spPr>
          <a:xfrm>
            <a:off x="6985000" y="0"/>
            <a:ext cx="5207000" cy="6858000"/>
          </a:xfrm>
          <a:prstGeom prst="rect">
            <a:avLst/>
          </a:prstGeom>
        </p:spPr>
      </p:pic>
      <p:sp>
        <p:nvSpPr>
          <p:cNvPr id="3" name="Rectangle 2"/>
          <p:cNvSpPr/>
          <p:nvPr/>
        </p:nvSpPr>
        <p:spPr>
          <a:xfrm>
            <a:off x="6985000" y="0"/>
            <a:ext cx="5207000" cy="6858000"/>
          </a:xfrm>
          <a:prstGeom prst="rect">
            <a:avLst/>
          </a:prstGeom>
          <a:gradFill rotWithShape="1">
            <a:gsLst>
              <a:gs pos="0">
                <a:srgbClr val="061a2c">
                  <a:alpha val="100000"/>
                </a:srgbClr>
              </a:gs>
              <a:gs pos="35000">
                <a:srgbClr val="061a2c">
                  <a:alpha val="20000"/>
                </a:srgbClr>
              </a:gs>
              <a:gs pos="70000">
                <a:srgbClr val="061a2c">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89800" y="6248400"/>
            <a:ext cx="4597400" cy="203200"/>
          </a:xfrm>
          <a:prstGeom prst="rect">
            <a:avLst/>
          </a:prstGeom>
          <a:noFill/>
        </p:spPr>
        <p:txBody>
          <a:bodyPr wrap="square" lIns="0" rIns="0" tIns="0" bIns="0" anchor="t">
            <a:spAutoFit/>
          </a:bodyPr>
          <a:lstStyle/>
          <a:p>
            <a:pPr algn="r">
              <a:lnSpc>
                <a:spcPct val="120000"/>
              </a:lnSpc>
            </a:pPr>
            <a:r>
              <a:rPr sz="1200" b="0">
                <a:solidFill>
                  <a:srgbClr val="B4CBDE"/>
                </a:solidFill>
                <a:latin typeface="JetBrains Mono"/>
              </a:rPr>
              <a:t>nodegrid.sudaverse.com</a:t>
            </a:r>
          </a:p>
        </p:txBody>
      </p:sp>
      <p:pic>
        <p:nvPicPr>
          <p:cNvPr id="5" name="Picture 4" descr="nodegrid-logo.png"/>
          <p:cNvPicPr>
            <a:picLocks noChangeAspect="1"/>
          </p:cNvPicPr>
          <p:nvPr/>
        </p:nvPicPr>
        <p:blipFill>
          <a:blip r:embed="rId4"/>
          <a:stretch>
            <a:fillRect/>
          </a:stretch>
        </p:blipFill>
        <p:spPr>
          <a:xfrm>
            <a:off x="812800" y="1143000"/>
            <a:ext cx="711200" cy="711200"/>
          </a:xfrm>
          <a:prstGeom prst="rect">
            <a:avLst/>
          </a:prstGeom>
        </p:spPr>
      </p:pic>
      <p:sp>
        <p:nvSpPr>
          <p:cNvPr id="6" name="TextBox 5"/>
          <p:cNvSpPr txBox="1"/>
          <p:nvPr/>
        </p:nvSpPr>
        <p:spPr>
          <a:xfrm>
            <a:off x="812800" y="2006600"/>
            <a:ext cx="5588000" cy="1079500"/>
          </a:xfrm>
          <a:prstGeom prst="rect">
            <a:avLst/>
          </a:prstGeom>
          <a:noFill/>
        </p:spPr>
        <p:txBody>
          <a:bodyPr wrap="square" lIns="0" rIns="0" tIns="0" bIns="0" anchor="t">
            <a:spAutoFit/>
          </a:bodyPr>
          <a:lstStyle/>
          <a:p>
            <a:pPr algn="l">
              <a:lnSpc>
                <a:spcPct val="105000"/>
              </a:lnSpc>
            </a:pPr>
            <a:r>
              <a:rPr sz="3600" b="1">
                <a:solidFill>
                  <a:srgbClr val="F3F4EF"/>
                </a:solidFill>
                <a:latin typeface="Schibsted Grotesk"/>
              </a:rPr>
              <a:t>A self-hosted control plane for AI agents.</a:t>
            </a:r>
          </a:p>
        </p:txBody>
      </p:sp>
      <p:sp>
        <p:nvSpPr>
          <p:cNvPr id="7" name="TextBox 6"/>
          <p:cNvSpPr txBox="1"/>
          <p:nvPr/>
        </p:nvSpPr>
        <p:spPr>
          <a:xfrm>
            <a:off x="812800" y="3175000"/>
            <a:ext cx="5588000" cy="1651000"/>
          </a:xfrm>
          <a:prstGeom prst="rect">
            <a:avLst/>
          </a:prstGeom>
          <a:noFill/>
        </p:spPr>
        <p:txBody>
          <a:bodyPr wrap="square" lIns="0" rIns="0" tIns="0" bIns="0" anchor="t">
            <a:spAutoFit/>
          </a:bodyPr>
          <a:lstStyle/>
          <a:p>
            <a:pPr algn="l">
              <a:lnSpc>
                <a:spcPct val="145000"/>
              </a:lnSpc>
            </a:pPr>
            <a:r>
              <a:rPr sz="1400" b="0">
                <a:solidFill>
                  <a:srgbClr val="B4CBDE"/>
                </a:solidFill>
                <a:latin typeface="Schibsted Grotesk"/>
              </a:rPr>
              <a:t>Running AI agents in production takes more than a prompt. Teams need to control who can do what, keep their data in their own environment, and see what every agent did and why. NodeGrid brings agents, models, documents, tools and workflows into one browser-based control plane on your own infrastructure.</a:t>
            </a:r>
          </a:p>
        </p:txBody>
      </p:sp>
      <p:sp>
        <p:nvSpPr>
          <p:cNvPr id="8" name="Rectangle 7"/>
          <p:cNvSpPr/>
          <p:nvPr/>
        </p:nvSpPr>
        <p:spPr>
          <a:xfrm>
            <a:off x="812800" y="5016500"/>
            <a:ext cx="55626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5194300"/>
            <a:ext cx="1778000" cy="321310"/>
          </a:xfrm>
          <a:prstGeom prst="rect">
            <a:avLst/>
          </a:prstGeom>
          <a:noFill/>
        </p:spPr>
        <p:txBody>
          <a:bodyPr wrap="square" lIns="0" rIns="0" tIns="0" bIns="0" anchor="t">
            <a:spAutoFit/>
          </a:bodyPr>
          <a:lstStyle/>
          <a:p>
            <a:pPr algn="l">
              <a:lnSpc>
                <a:spcPct val="100000"/>
              </a:lnSpc>
            </a:pPr>
            <a:r>
              <a:rPr sz="2200" b="1">
                <a:solidFill>
                  <a:srgbClr val="4CAF50"/>
                </a:solidFill>
                <a:latin typeface="Schibsted Grotesk"/>
              </a:rPr>
              <a:t>v1.0</a:t>
            </a:r>
          </a:p>
        </p:txBody>
      </p:sp>
      <p:sp>
        <p:nvSpPr>
          <p:cNvPr id="10" name="TextBox 9"/>
          <p:cNvSpPr txBox="1"/>
          <p:nvPr/>
        </p:nvSpPr>
        <p:spPr>
          <a:xfrm>
            <a:off x="812800" y="5543550"/>
            <a:ext cx="17780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first tagged release, live</a:t>
            </a:r>
          </a:p>
        </p:txBody>
      </p:sp>
      <p:sp>
        <p:nvSpPr>
          <p:cNvPr id="11" name="TextBox 10"/>
          <p:cNvSpPr txBox="1"/>
          <p:nvPr/>
        </p:nvSpPr>
        <p:spPr>
          <a:xfrm>
            <a:off x="2717800" y="5194300"/>
            <a:ext cx="1778000" cy="321310"/>
          </a:xfrm>
          <a:prstGeom prst="rect">
            <a:avLst/>
          </a:prstGeom>
          <a:noFill/>
        </p:spPr>
        <p:txBody>
          <a:bodyPr wrap="square" lIns="0" rIns="0" tIns="0" bIns="0" anchor="t">
            <a:spAutoFit/>
          </a:bodyPr>
          <a:lstStyle/>
          <a:p>
            <a:pPr algn="l">
              <a:lnSpc>
                <a:spcPct val="100000"/>
              </a:lnSpc>
            </a:pPr>
            <a:r>
              <a:rPr sz="2200" b="1">
                <a:solidFill>
                  <a:srgbClr val="30A8D8"/>
                </a:solidFill>
                <a:latin typeface="Schibsted Grotesk"/>
              </a:rPr>
              <a:t>Multi-tenant</a:t>
            </a:r>
          </a:p>
        </p:txBody>
      </p:sp>
      <p:sp>
        <p:nvSpPr>
          <p:cNvPr id="12" name="TextBox 11"/>
          <p:cNvSpPr txBox="1"/>
          <p:nvPr/>
        </p:nvSpPr>
        <p:spPr>
          <a:xfrm>
            <a:off x="2717800" y="5543550"/>
            <a:ext cx="17780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with role-based access</a:t>
            </a:r>
          </a:p>
        </p:txBody>
      </p:sp>
      <p:sp>
        <p:nvSpPr>
          <p:cNvPr id="13" name="TextBox 12"/>
          <p:cNvSpPr txBox="1"/>
          <p:nvPr/>
        </p:nvSpPr>
        <p:spPr>
          <a:xfrm>
            <a:off x="4622800" y="5194300"/>
            <a:ext cx="1778000" cy="321310"/>
          </a:xfrm>
          <a:prstGeom prst="rect">
            <a:avLst/>
          </a:prstGeom>
          <a:noFill/>
        </p:spPr>
        <p:txBody>
          <a:bodyPr wrap="square" lIns="0" rIns="0" tIns="0" bIns="0" anchor="t">
            <a:spAutoFit/>
          </a:bodyPr>
          <a:lstStyle/>
          <a:p>
            <a:pPr algn="l">
              <a:lnSpc>
                <a:spcPct val="100000"/>
              </a:lnSpc>
            </a:pPr>
            <a:r>
              <a:rPr sz="2200" b="1">
                <a:solidFill>
                  <a:srgbClr val="E3A27F"/>
                </a:solidFill>
                <a:latin typeface="Schibsted Grotesk"/>
              </a:rPr>
              <a:t>Edge-ready</a:t>
            </a:r>
          </a:p>
        </p:txBody>
      </p:sp>
      <p:sp>
        <p:nvSpPr>
          <p:cNvPr id="14" name="TextBox 13"/>
          <p:cNvSpPr txBox="1"/>
          <p:nvPr/>
        </p:nvSpPr>
        <p:spPr>
          <a:xfrm>
            <a:off x="4622800" y="5543550"/>
            <a:ext cx="1778000" cy="457200"/>
          </a:xfrm>
          <a:prstGeom prst="rect">
            <a:avLst/>
          </a:prstGeom>
          <a:noFill/>
        </p:spPr>
        <p:txBody>
          <a:bodyPr wrap="square" lIns="0" rIns="0" tIns="0" bIns="0" anchor="t">
            <a:spAutoFit/>
          </a:bodyPr>
          <a:lstStyle/>
          <a:p>
            <a:pPr algn="l">
              <a:lnSpc>
                <a:spcPct val="130000"/>
              </a:lnSpc>
            </a:pPr>
            <a:r>
              <a:rPr sz="1200" b="0">
                <a:solidFill>
                  <a:srgbClr val="B4CBDE"/>
                </a:solidFill>
                <a:latin typeface="Schibsted Grotesk"/>
              </a:rPr>
              <a:t>agents on machines across your network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4EF"/>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How NodeGrid is put together</a:t>
            </a:r>
          </a:p>
        </p:txBody>
      </p:sp>
      <p:sp>
        <p:nvSpPr>
          <p:cNvPr id="3" name="Rectangle 2"/>
          <p:cNvSpPr/>
          <p:nvPr/>
        </p:nvSpPr>
        <p:spPr>
          <a:xfrm>
            <a:off x="812800" y="1905000"/>
            <a:ext cx="3115733" cy="1651000"/>
          </a:xfrm>
          <a:prstGeom prst="rect">
            <a:avLst/>
          </a:prstGeom>
          <a:solidFill>
            <a:srgbClr val="E8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1905000"/>
            <a:ext cx="3115733" cy="19050"/>
          </a:xfrm>
          <a:prstGeom prst="rect">
            <a:avLst/>
          </a:prstGeom>
          <a:solidFill>
            <a:srgbClr val="187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2133600"/>
            <a:ext cx="2658533" cy="317500"/>
          </a:xfrm>
          <a:prstGeom prst="rect">
            <a:avLst/>
          </a:prstGeom>
          <a:noFill/>
        </p:spPr>
        <p:txBody>
          <a:bodyPr wrap="square" lIns="0" rIns="0" tIns="0" bIns="0" anchor="t">
            <a:spAutoFit/>
          </a:bodyPr>
          <a:lstStyle/>
          <a:p>
            <a:pPr algn="l">
              <a:lnSpc>
                <a:spcPct val="120000"/>
              </a:lnSpc>
            </a:pPr>
            <a:r>
              <a:rPr sz="2000" b="1">
                <a:solidFill>
                  <a:srgbClr val="12191D"/>
                </a:solidFill>
                <a:latin typeface="Schibsted Grotesk"/>
              </a:rPr>
              <a:t>Operators</a:t>
            </a:r>
          </a:p>
        </p:txBody>
      </p:sp>
      <p:sp>
        <p:nvSpPr>
          <p:cNvPr id="6" name="TextBox 5"/>
          <p:cNvSpPr txBox="1"/>
          <p:nvPr/>
        </p:nvSpPr>
        <p:spPr>
          <a:xfrm>
            <a:off x="1041400" y="2540000"/>
            <a:ext cx="2658533"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A browser dashboard: agents, chat, pipelines, workflows, usage and alerts.</a:t>
            </a:r>
          </a:p>
        </p:txBody>
      </p:sp>
      <p:cxnSp>
        <p:nvCxnSpPr>
          <p:cNvPr id="7" name="Connector 6"/>
          <p:cNvCxnSpPr/>
          <p:nvPr/>
        </p:nvCxnSpPr>
        <p:spPr>
          <a:xfrm>
            <a:off x="4017433" y="2730500"/>
            <a:ext cx="431800" cy="0"/>
          </a:xfrm>
          <a:prstGeom prst="line">
            <a:avLst/>
          </a:prstGeom>
          <a:ln w="19050">
            <a:solidFill>
              <a:srgbClr val="56656E"/>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38133" y="1905000"/>
            <a:ext cx="3115733" cy="1651000"/>
          </a:xfrm>
          <a:prstGeom prst="rect">
            <a:avLst/>
          </a:prstGeom>
          <a:solidFill>
            <a:srgbClr val="0A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38133" y="1905000"/>
            <a:ext cx="3115733" cy="1905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66733" y="2133600"/>
            <a:ext cx="2658533" cy="317500"/>
          </a:xfrm>
          <a:prstGeom prst="rect">
            <a:avLst/>
          </a:prstGeom>
          <a:noFill/>
        </p:spPr>
        <p:txBody>
          <a:bodyPr wrap="square" lIns="0" rIns="0" tIns="0" bIns="0" anchor="t">
            <a:spAutoFit/>
          </a:bodyPr>
          <a:lstStyle/>
          <a:p>
            <a:pPr algn="l">
              <a:lnSpc>
                <a:spcPct val="120000"/>
              </a:lnSpc>
            </a:pPr>
            <a:r>
              <a:rPr sz="2000" b="1">
                <a:solidFill>
                  <a:srgbClr val="F3F4EF"/>
                </a:solidFill>
                <a:latin typeface="Schibsted Grotesk"/>
              </a:rPr>
              <a:t>Control plane</a:t>
            </a:r>
          </a:p>
        </p:txBody>
      </p:sp>
      <p:sp>
        <p:nvSpPr>
          <p:cNvPr id="11" name="TextBox 10"/>
          <p:cNvSpPr txBox="1"/>
          <p:nvPr/>
        </p:nvSpPr>
        <p:spPr>
          <a:xfrm>
            <a:off x="4766733" y="2540000"/>
            <a:ext cx="2658533" cy="952500"/>
          </a:xfrm>
          <a:prstGeom prst="rect">
            <a:avLst/>
          </a:prstGeom>
          <a:noFill/>
        </p:spPr>
        <p:txBody>
          <a:bodyPr wrap="square" lIns="0" rIns="0" tIns="0" bIns="0" anchor="t">
            <a:spAutoFit/>
          </a:bodyPr>
          <a:lstStyle/>
          <a:p>
            <a:pPr algn="l">
              <a:lnSpc>
                <a:spcPct val="140000"/>
              </a:lnSpc>
            </a:pPr>
            <a:r>
              <a:rPr sz="1300" b="0">
                <a:solidFill>
                  <a:srgbClr val="B4CBDE"/>
                </a:solidFill>
                <a:latin typeface="Schibsted Grotesk"/>
              </a:rPr>
              <a:t>Sign-in, tenants and roles, workflow engine, activity record, cost tracking.</a:t>
            </a:r>
          </a:p>
        </p:txBody>
      </p:sp>
      <p:cxnSp>
        <p:nvCxnSpPr>
          <p:cNvPr id="12" name="Connector 11"/>
          <p:cNvCxnSpPr/>
          <p:nvPr/>
        </p:nvCxnSpPr>
        <p:spPr>
          <a:xfrm>
            <a:off x="7742767" y="2730500"/>
            <a:ext cx="431800" cy="0"/>
          </a:xfrm>
          <a:prstGeom prst="line">
            <a:avLst/>
          </a:prstGeom>
          <a:ln w="19050">
            <a:solidFill>
              <a:srgbClr val="56656E"/>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263467" y="1905000"/>
            <a:ext cx="3115733" cy="1651000"/>
          </a:xfrm>
          <a:prstGeom prst="rect">
            <a:avLst/>
          </a:prstGeom>
          <a:solidFill>
            <a:srgbClr val="E8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63467" y="1905000"/>
            <a:ext cx="3115733" cy="19050"/>
          </a:xfrm>
          <a:prstGeom prst="rect">
            <a:avLst/>
          </a:prstGeom>
          <a:solidFill>
            <a:srgbClr val="AB5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2067" y="2133600"/>
            <a:ext cx="2658533" cy="317500"/>
          </a:xfrm>
          <a:prstGeom prst="rect">
            <a:avLst/>
          </a:prstGeom>
          <a:noFill/>
        </p:spPr>
        <p:txBody>
          <a:bodyPr wrap="square" lIns="0" rIns="0" tIns="0" bIns="0" anchor="t">
            <a:spAutoFit/>
          </a:bodyPr>
          <a:lstStyle/>
          <a:p>
            <a:pPr algn="l">
              <a:lnSpc>
                <a:spcPct val="120000"/>
              </a:lnSpc>
            </a:pPr>
            <a:r>
              <a:rPr sz="2000" b="1">
                <a:solidFill>
                  <a:srgbClr val="12191D"/>
                </a:solidFill>
                <a:latin typeface="Schibsted Grotesk"/>
              </a:rPr>
              <a:t>Execution</a:t>
            </a:r>
          </a:p>
        </p:txBody>
      </p:sp>
      <p:sp>
        <p:nvSpPr>
          <p:cNvPr id="16" name="TextBox 15"/>
          <p:cNvSpPr txBox="1"/>
          <p:nvPr/>
        </p:nvSpPr>
        <p:spPr>
          <a:xfrm>
            <a:off x="8492067" y="2540000"/>
            <a:ext cx="2658533"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Language models, hosted or local; documents and memory; tools; remote edge agents.</a:t>
            </a:r>
          </a:p>
        </p:txBody>
      </p:sp>
      <p:sp>
        <p:nvSpPr>
          <p:cNvPr id="17" name="Rectangle 16"/>
          <p:cNvSpPr/>
          <p:nvPr/>
        </p:nvSpPr>
        <p:spPr>
          <a:xfrm>
            <a:off x="812800" y="3937000"/>
            <a:ext cx="328295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800" y="4114800"/>
            <a:ext cx="3282950" cy="254000"/>
          </a:xfrm>
          <a:prstGeom prst="rect">
            <a:avLst/>
          </a:prstGeom>
          <a:noFill/>
        </p:spPr>
        <p:txBody>
          <a:bodyPr wrap="square" lIns="0" rIns="0" tIns="0" bIns="0" anchor="t">
            <a:spAutoFit/>
          </a:bodyPr>
          <a:lstStyle/>
          <a:p>
            <a:pPr algn="l">
              <a:lnSpc>
                <a:spcPct val="120000"/>
              </a:lnSpc>
            </a:pPr>
            <a:r>
              <a:rPr sz="1400" b="1">
                <a:solidFill>
                  <a:srgbClr val="12191D"/>
                </a:solidFill>
                <a:latin typeface="Schibsted Grotesk"/>
              </a:rPr>
              <a:t>Your infrastructure</a:t>
            </a:r>
          </a:p>
        </p:txBody>
      </p:sp>
      <p:sp>
        <p:nvSpPr>
          <p:cNvPr id="19" name="TextBox 18"/>
          <p:cNvSpPr txBox="1"/>
          <p:nvPr/>
        </p:nvSpPr>
        <p:spPr>
          <a:xfrm>
            <a:off x="812800" y="4445000"/>
            <a:ext cx="3282950" cy="698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The whole stack runs on the customer's servers, in containers.</a:t>
            </a:r>
          </a:p>
        </p:txBody>
      </p:sp>
      <p:sp>
        <p:nvSpPr>
          <p:cNvPr id="20" name="Rectangle 19"/>
          <p:cNvSpPr/>
          <p:nvPr/>
        </p:nvSpPr>
        <p:spPr>
          <a:xfrm>
            <a:off x="4451350" y="3937000"/>
            <a:ext cx="328295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51350" y="4114800"/>
            <a:ext cx="3282950" cy="254000"/>
          </a:xfrm>
          <a:prstGeom prst="rect">
            <a:avLst/>
          </a:prstGeom>
          <a:noFill/>
        </p:spPr>
        <p:txBody>
          <a:bodyPr wrap="square" lIns="0" rIns="0" tIns="0" bIns="0" anchor="t">
            <a:spAutoFit/>
          </a:bodyPr>
          <a:lstStyle/>
          <a:p>
            <a:pPr algn="l">
              <a:lnSpc>
                <a:spcPct val="120000"/>
              </a:lnSpc>
            </a:pPr>
            <a:r>
              <a:rPr sz="1400" b="1">
                <a:solidFill>
                  <a:srgbClr val="12191D"/>
                </a:solidFill>
                <a:latin typeface="Schibsted Grotesk"/>
              </a:rPr>
              <a:t>Isolated by design</a:t>
            </a:r>
          </a:p>
        </p:txBody>
      </p:sp>
      <p:sp>
        <p:nvSpPr>
          <p:cNvPr id="22" name="TextBox 21"/>
          <p:cNvSpPr txBox="1"/>
          <p:nvPr/>
        </p:nvSpPr>
        <p:spPr>
          <a:xfrm>
            <a:off x="4451350" y="4445000"/>
            <a:ext cx="3282950" cy="698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Every query is scoped to its tenant; one tenant cannot see another's data.</a:t>
            </a:r>
          </a:p>
        </p:txBody>
      </p:sp>
      <p:sp>
        <p:nvSpPr>
          <p:cNvPr id="23" name="Rectangle 22"/>
          <p:cNvSpPr/>
          <p:nvPr/>
        </p:nvSpPr>
        <p:spPr>
          <a:xfrm>
            <a:off x="8089900" y="3937000"/>
            <a:ext cx="328295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89900" y="4114800"/>
            <a:ext cx="3282950" cy="254000"/>
          </a:xfrm>
          <a:prstGeom prst="rect">
            <a:avLst/>
          </a:prstGeom>
          <a:noFill/>
        </p:spPr>
        <p:txBody>
          <a:bodyPr wrap="square" lIns="0" rIns="0" tIns="0" bIns="0" anchor="t">
            <a:spAutoFit/>
          </a:bodyPr>
          <a:lstStyle/>
          <a:p>
            <a:pPr algn="l">
              <a:lnSpc>
                <a:spcPct val="120000"/>
              </a:lnSpc>
            </a:pPr>
            <a:r>
              <a:rPr sz="1400" b="1">
                <a:solidFill>
                  <a:srgbClr val="12191D"/>
                </a:solidFill>
                <a:latin typeface="Schibsted Grotesk"/>
              </a:rPr>
              <a:t>Secure at the edge</a:t>
            </a:r>
          </a:p>
        </p:txBody>
      </p:sp>
      <p:sp>
        <p:nvSpPr>
          <p:cNvPr id="25" name="TextBox 24"/>
          <p:cNvSpPr txBox="1"/>
          <p:nvPr/>
        </p:nvSpPr>
        <p:spPr>
          <a:xfrm>
            <a:off x="8089900" y="4445000"/>
            <a:ext cx="3282950" cy="698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Edge agents connect over mutual TLS to run jobs across the network.</a:t>
            </a:r>
          </a:p>
        </p:txBody>
      </p:sp>
      <p:sp>
        <p:nvSpPr>
          <p:cNvPr id="26" name="TextBox 25"/>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NodeGrid</a:t>
            </a:r>
          </a:p>
        </p:txBody>
      </p:sp>
      <p:sp>
        <p:nvSpPr>
          <p:cNvPr id="27" name="TextBox 26"/>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BE4"/>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What teams get with NodeGrid</a:t>
            </a:r>
          </a:p>
        </p:txBody>
      </p:sp>
      <p:sp>
        <p:nvSpPr>
          <p:cNvPr id="3" name="Rectangle 2"/>
          <p:cNvSpPr/>
          <p:nvPr/>
        </p:nvSpPr>
        <p:spPr>
          <a:xfrm>
            <a:off x="812800" y="19050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0828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Self-hosted</a:t>
            </a:r>
          </a:p>
        </p:txBody>
      </p:sp>
      <p:sp>
        <p:nvSpPr>
          <p:cNvPr id="5" name="TextBox 4"/>
          <p:cNvSpPr txBox="1"/>
          <p:nvPr/>
        </p:nvSpPr>
        <p:spPr>
          <a:xfrm>
            <a:off x="812800" y="24892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Agents, data and history stay on your own infrastructure.</a:t>
            </a:r>
          </a:p>
        </p:txBody>
      </p:sp>
      <p:sp>
        <p:nvSpPr>
          <p:cNvPr id="6" name="Rectangle 5"/>
          <p:cNvSpPr/>
          <p:nvPr/>
        </p:nvSpPr>
        <p:spPr>
          <a:xfrm>
            <a:off x="4451350" y="19050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51350" y="20828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Many models</a:t>
            </a:r>
          </a:p>
        </p:txBody>
      </p:sp>
      <p:sp>
        <p:nvSpPr>
          <p:cNvPr id="8" name="TextBox 7"/>
          <p:cNvSpPr txBox="1"/>
          <p:nvPr/>
        </p:nvSpPr>
        <p:spPr>
          <a:xfrm>
            <a:off x="4451350" y="24892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Works with multiple language models and falls back automatically when one is unavailable.</a:t>
            </a:r>
          </a:p>
        </p:txBody>
      </p:sp>
      <p:sp>
        <p:nvSpPr>
          <p:cNvPr id="9" name="Rectangle 8"/>
          <p:cNvSpPr/>
          <p:nvPr/>
        </p:nvSpPr>
        <p:spPr>
          <a:xfrm>
            <a:off x="8089900" y="19050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9900" y="20828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Grounded answers</a:t>
            </a:r>
          </a:p>
        </p:txBody>
      </p:sp>
      <p:sp>
        <p:nvSpPr>
          <p:cNvPr id="11" name="TextBox 10"/>
          <p:cNvSpPr txBox="1"/>
          <p:nvPr/>
        </p:nvSpPr>
        <p:spPr>
          <a:xfrm>
            <a:off x="8089900" y="24892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Answers drawn from your own documents, with custom tools and shared memory.</a:t>
            </a:r>
          </a:p>
        </p:txBody>
      </p:sp>
      <p:sp>
        <p:nvSpPr>
          <p:cNvPr id="12" name="Rectangle 11"/>
          <p:cNvSpPr/>
          <p:nvPr/>
        </p:nvSpPr>
        <p:spPr>
          <a:xfrm>
            <a:off x="812800" y="37465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9243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Workflows</a:t>
            </a:r>
          </a:p>
        </p:txBody>
      </p:sp>
      <p:sp>
        <p:nvSpPr>
          <p:cNvPr id="14" name="TextBox 13"/>
          <p:cNvSpPr txBox="1"/>
          <p:nvPr/>
        </p:nvSpPr>
        <p:spPr>
          <a:xfrm>
            <a:off x="812800" y="43307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Pipelines and versioned workflows for unattended, multi-step work.</a:t>
            </a:r>
          </a:p>
        </p:txBody>
      </p:sp>
      <p:sp>
        <p:nvSpPr>
          <p:cNvPr id="15" name="Rectangle 14"/>
          <p:cNvSpPr/>
          <p:nvPr/>
        </p:nvSpPr>
        <p:spPr>
          <a:xfrm>
            <a:off x="4451350" y="37465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1350" y="39243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Governance</a:t>
            </a:r>
          </a:p>
        </p:txBody>
      </p:sp>
      <p:sp>
        <p:nvSpPr>
          <p:cNvPr id="17" name="TextBox 16"/>
          <p:cNvSpPr txBox="1"/>
          <p:nvPr/>
        </p:nvSpPr>
        <p:spPr>
          <a:xfrm>
            <a:off x="4451350" y="43307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Separate workspaces per organisation, role-based access, usage and cost tracking, alerts.</a:t>
            </a:r>
          </a:p>
        </p:txBody>
      </p:sp>
      <p:sp>
        <p:nvSpPr>
          <p:cNvPr id="18" name="Rectangle 17"/>
          <p:cNvSpPr/>
          <p:nvPr/>
        </p:nvSpPr>
        <p:spPr>
          <a:xfrm>
            <a:off x="8089900" y="3746500"/>
            <a:ext cx="328295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9900" y="3924300"/>
            <a:ext cx="3282950" cy="304800"/>
          </a:xfrm>
          <a:prstGeom prst="rect">
            <a:avLst/>
          </a:prstGeom>
          <a:noFill/>
        </p:spPr>
        <p:txBody>
          <a:bodyPr wrap="square" lIns="0" rIns="0" tIns="0" bIns="0" anchor="t">
            <a:spAutoFit/>
          </a:bodyPr>
          <a:lstStyle/>
          <a:p>
            <a:pPr algn="l">
              <a:lnSpc>
                <a:spcPct val="120000"/>
              </a:lnSpc>
            </a:pPr>
            <a:r>
              <a:rPr sz="1800" b="1">
                <a:solidFill>
                  <a:srgbClr val="12191D"/>
                </a:solidFill>
                <a:latin typeface="Schibsted Grotesk"/>
              </a:rPr>
              <a:t>Edge agents</a:t>
            </a:r>
          </a:p>
        </p:txBody>
      </p:sp>
      <p:sp>
        <p:nvSpPr>
          <p:cNvPr id="20" name="TextBox 19"/>
          <p:cNvSpPr txBox="1"/>
          <p:nvPr/>
        </p:nvSpPr>
        <p:spPr>
          <a:xfrm>
            <a:off x="8089900" y="4330700"/>
            <a:ext cx="3282950" cy="9525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Run jobs on machines across your network, with installers for Windows and Linux.</a:t>
            </a:r>
          </a:p>
        </p:txBody>
      </p:sp>
      <p:sp>
        <p:nvSpPr>
          <p:cNvPr id="21" name="TextBox 20"/>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NodeGrid</a:t>
            </a:r>
          </a:p>
        </p:txBody>
      </p:sp>
      <p:sp>
        <p:nvSpPr>
          <p:cNvPr id="22" name="TextBox 21"/>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4EF"/>
        </a:solidFill>
        <a:effectLst/>
      </p:bgPr>
    </p:bg>
    <p:spTree>
      <p:nvGrpSpPr>
        <p:cNvPr id="1" name=""/>
        <p:cNvGrpSpPr/>
        <p:nvPr/>
      </p:nvGrpSpPr>
      <p:grpSpPr/>
      <p:pic>
        <p:nvPicPr>
          <p:cNvPr id="2" name="Picture 1" descr="smartselect-logo.png"/>
          <p:cNvPicPr>
            <a:picLocks noChangeAspect="1"/>
          </p:cNvPicPr>
          <p:nvPr/>
        </p:nvPicPr>
        <p:blipFill>
          <a:blip r:embed="rId3"/>
          <a:stretch>
            <a:fillRect/>
          </a:stretch>
        </p:blipFill>
        <p:spPr>
          <a:xfrm>
            <a:off x="812800" y="952500"/>
            <a:ext cx="609600" cy="609600"/>
          </a:xfrm>
          <a:prstGeom prst="rect">
            <a:avLst/>
          </a:prstGeom>
        </p:spPr>
      </p:pic>
      <p:sp>
        <p:nvSpPr>
          <p:cNvPr id="3" name="TextBox 2"/>
          <p:cNvSpPr txBox="1"/>
          <p:nvPr/>
        </p:nvSpPr>
        <p:spPr>
          <a:xfrm>
            <a:off x="812800" y="1714500"/>
            <a:ext cx="4826000" cy="165100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It screens, scores, ranks and explains. People decide.</a:t>
            </a:r>
          </a:p>
        </p:txBody>
      </p:sp>
      <p:sp>
        <p:nvSpPr>
          <p:cNvPr id="4" name="TextBox 3"/>
          <p:cNvSpPr txBox="1"/>
          <p:nvPr/>
        </p:nvSpPr>
        <p:spPr>
          <a:xfrm>
            <a:off x="812800" y="3429000"/>
            <a:ext cx="4826000" cy="1143000"/>
          </a:xfrm>
          <a:prstGeom prst="rect">
            <a:avLst/>
          </a:prstGeom>
          <a:noFill/>
        </p:spPr>
        <p:txBody>
          <a:bodyPr wrap="square" lIns="0" rIns="0" tIns="0" bIns="0" anchor="t">
            <a:spAutoFit/>
          </a:bodyPr>
          <a:lstStyle/>
          <a:p>
            <a:pPr algn="l">
              <a:lnSpc>
                <a:spcPct val="145000"/>
              </a:lnSpc>
            </a:pPr>
            <a:r>
              <a:rPr sz="1400" b="0">
                <a:solidFill>
                  <a:srgbClr val="37444C"/>
                </a:solidFill>
                <a:latin typeface="Schibsted Grotesk"/>
              </a:rPr>
              <a:t>Explainable decision support for selection: admission, hiring, promotion, clinical residency, scholarships and grants. The organisation's panel decides and its approving authority approves.</a:t>
            </a:r>
          </a:p>
        </p:txBody>
      </p:sp>
      <p:sp>
        <p:nvSpPr>
          <p:cNvPr id="5" name="Rectangle 4"/>
          <p:cNvSpPr/>
          <p:nvPr/>
        </p:nvSpPr>
        <p:spPr>
          <a:xfrm>
            <a:off x="812800" y="4699000"/>
            <a:ext cx="48260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876800"/>
            <a:ext cx="1587500" cy="292100"/>
          </a:xfrm>
          <a:prstGeom prst="rect">
            <a:avLst/>
          </a:prstGeom>
          <a:noFill/>
        </p:spPr>
        <p:txBody>
          <a:bodyPr wrap="square" lIns="0" rIns="0" tIns="0" bIns="0" anchor="t">
            <a:spAutoFit/>
          </a:bodyPr>
          <a:lstStyle/>
          <a:p>
            <a:pPr algn="l">
              <a:lnSpc>
                <a:spcPct val="100000"/>
              </a:lnSpc>
            </a:pPr>
            <a:r>
              <a:rPr sz="2000" b="1">
                <a:solidFill>
                  <a:srgbClr val="AB5426"/>
                </a:solidFill>
                <a:latin typeface="Schibsted Grotesk"/>
              </a:rPr>
              <a:t>AR + EN</a:t>
            </a:r>
          </a:p>
        </p:txBody>
      </p:sp>
      <p:sp>
        <p:nvSpPr>
          <p:cNvPr id="7" name="TextBox 6"/>
          <p:cNvSpPr txBox="1"/>
          <p:nvPr/>
        </p:nvSpPr>
        <p:spPr>
          <a:xfrm>
            <a:off x="812800" y="5194300"/>
            <a:ext cx="15875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Arabic by default</a:t>
            </a:r>
          </a:p>
        </p:txBody>
      </p:sp>
      <p:sp>
        <p:nvSpPr>
          <p:cNvPr id="8" name="TextBox 7"/>
          <p:cNvSpPr txBox="1"/>
          <p:nvPr/>
        </p:nvSpPr>
        <p:spPr>
          <a:xfrm>
            <a:off x="2489200" y="4876800"/>
            <a:ext cx="1587500" cy="292100"/>
          </a:xfrm>
          <a:prstGeom prst="rect">
            <a:avLst/>
          </a:prstGeom>
          <a:noFill/>
        </p:spPr>
        <p:txBody>
          <a:bodyPr wrap="square" lIns="0" rIns="0" tIns="0" bIns="0" anchor="t">
            <a:spAutoFit/>
          </a:bodyPr>
          <a:lstStyle/>
          <a:p>
            <a:pPr algn="l">
              <a:lnSpc>
                <a:spcPct val="100000"/>
              </a:lnSpc>
            </a:pPr>
            <a:r>
              <a:rPr sz="2000" b="1">
                <a:solidFill>
                  <a:srgbClr val="AB5426"/>
                </a:solidFill>
                <a:latin typeface="Schibsted Grotesk"/>
              </a:rPr>
              <a:t>Audited</a:t>
            </a:r>
          </a:p>
        </p:txBody>
      </p:sp>
      <p:sp>
        <p:nvSpPr>
          <p:cNvPr id="9" name="TextBox 8"/>
          <p:cNvSpPr txBox="1"/>
          <p:nvPr/>
        </p:nvSpPr>
        <p:spPr>
          <a:xfrm>
            <a:off x="2489200" y="5194300"/>
            <a:ext cx="15875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every rule, versioned</a:t>
            </a:r>
          </a:p>
        </p:txBody>
      </p:sp>
      <p:sp>
        <p:nvSpPr>
          <p:cNvPr id="10" name="TextBox 9"/>
          <p:cNvSpPr txBox="1"/>
          <p:nvPr/>
        </p:nvSpPr>
        <p:spPr>
          <a:xfrm>
            <a:off x="4165600" y="4876800"/>
            <a:ext cx="1587500" cy="292100"/>
          </a:xfrm>
          <a:prstGeom prst="rect">
            <a:avLst/>
          </a:prstGeom>
          <a:noFill/>
        </p:spPr>
        <p:txBody>
          <a:bodyPr wrap="square" lIns="0" rIns="0" tIns="0" bIns="0" anchor="t">
            <a:spAutoFit/>
          </a:bodyPr>
          <a:lstStyle/>
          <a:p>
            <a:pPr algn="l">
              <a:lnSpc>
                <a:spcPct val="100000"/>
              </a:lnSpc>
            </a:pPr>
            <a:r>
              <a:rPr sz="2000" b="1">
                <a:solidFill>
                  <a:srgbClr val="AB5426"/>
                </a:solidFill>
                <a:latin typeface="Schibsted Grotesk"/>
              </a:rPr>
              <a:t>Configured</a:t>
            </a:r>
          </a:p>
        </p:txBody>
      </p:sp>
      <p:sp>
        <p:nvSpPr>
          <p:cNvPr id="11" name="TextBox 10"/>
          <p:cNvSpPr txBox="1"/>
          <p:nvPr/>
        </p:nvSpPr>
        <p:spPr>
          <a:xfrm>
            <a:off x="4165600" y="5194300"/>
            <a:ext cx="1587500" cy="457200"/>
          </a:xfrm>
          <a:prstGeom prst="rect">
            <a:avLst/>
          </a:prstGeom>
          <a:noFill/>
        </p:spPr>
        <p:txBody>
          <a:bodyPr wrap="square" lIns="0" rIns="0" tIns="0" bIns="0" anchor="t">
            <a:spAutoFit/>
          </a:bodyPr>
          <a:lstStyle/>
          <a:p>
            <a:pPr algn="l">
              <a:lnSpc>
                <a:spcPct val="130000"/>
              </a:lnSpc>
            </a:pPr>
            <a:r>
              <a:rPr sz="1200" b="0">
                <a:solidFill>
                  <a:srgbClr val="37444C"/>
                </a:solidFill>
                <a:latin typeface="Schibsted Grotesk"/>
              </a:rPr>
              <a:t>per industry, not coded</a:t>
            </a:r>
          </a:p>
        </p:txBody>
      </p:sp>
      <p:pic>
        <p:nvPicPr>
          <p:cNvPr id="12" name="Picture 11" descr="smartselect-en.png"/>
          <p:cNvPicPr>
            <a:picLocks noChangeAspect="1"/>
          </p:cNvPicPr>
          <p:nvPr/>
        </p:nvPicPr>
        <p:blipFill>
          <a:blip r:embed="rId4"/>
          <a:srcRect/>
          <a:stretch>
            <a:fillRect/>
          </a:stretch>
        </p:blipFill>
        <p:spPr>
          <a:xfrm>
            <a:off x="6146800" y="1651000"/>
            <a:ext cx="5232400" cy="3270250"/>
          </a:xfrm>
          <a:prstGeom prst="rect">
            <a:avLst/>
          </a:prstGeom>
        </p:spPr>
      </p:pic>
      <p:sp>
        <p:nvSpPr>
          <p:cNvPr id="13" name="Rectangle 12"/>
          <p:cNvSpPr/>
          <p:nvPr/>
        </p:nvSpPr>
        <p:spPr>
          <a:xfrm>
            <a:off x="6146800" y="1651000"/>
            <a:ext cx="5232400" cy="3270250"/>
          </a:xfrm>
          <a:prstGeom prst="rect">
            <a:avLst/>
          </a:prstGeom>
          <a:noFill/>
          <a:ln w="6350">
            <a:solidFill>
              <a:srgbClr val="A9B0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6800" y="5080000"/>
            <a:ext cx="52324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JetBrains Mono"/>
              </a:rPr>
              <a:t>smartselect.sudaverse.com  |  Live demo</a:t>
            </a:r>
          </a:p>
        </p:txBody>
      </p:sp>
      <p:sp>
        <p:nvSpPr>
          <p:cNvPr id="15" name="TextBox 14"/>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SmartSelect</a:t>
            </a:r>
          </a:p>
        </p:txBody>
      </p:sp>
      <p:sp>
        <p:nvSpPr>
          <p:cNvPr id="16" name="TextBox 15"/>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BE4"/>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From application to approved decision</a:t>
            </a:r>
          </a:p>
        </p:txBody>
      </p:sp>
      <p:sp>
        <p:nvSpPr>
          <p:cNvPr id="3" name="Rectangle 2"/>
          <p:cNvSpPr/>
          <p:nvPr/>
        </p:nvSpPr>
        <p:spPr>
          <a:xfrm>
            <a:off x="812800" y="1841500"/>
            <a:ext cx="1991360" cy="1651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1841500"/>
            <a:ext cx="1991360" cy="19050"/>
          </a:xfrm>
          <a:prstGeom prst="rect">
            <a:avLst/>
          </a:prstGeom>
          <a:solidFill>
            <a:srgbClr val="187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019300"/>
            <a:ext cx="163576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Eligibility</a:t>
            </a:r>
          </a:p>
        </p:txBody>
      </p:sp>
      <p:sp>
        <p:nvSpPr>
          <p:cNvPr id="6" name="TextBox 5"/>
          <p:cNvSpPr txBox="1"/>
          <p:nvPr/>
        </p:nvSpPr>
        <p:spPr>
          <a:xfrm>
            <a:off x="990600" y="2362200"/>
            <a:ext cx="1635760" cy="1079500"/>
          </a:xfrm>
          <a:prstGeom prst="rect">
            <a:avLst/>
          </a:prstGeom>
          <a:noFill/>
        </p:spPr>
        <p:txBody>
          <a:bodyPr wrap="square" lIns="0" rIns="0" tIns="0" bIns="0" anchor="t">
            <a:spAutoFit/>
          </a:bodyPr>
          <a:lstStyle/>
          <a:p>
            <a:pPr algn="l">
              <a:lnSpc>
                <a:spcPct val="140000"/>
              </a:lnSpc>
            </a:pPr>
            <a:r>
              <a:rPr sz="1200" b="0">
                <a:solidFill>
                  <a:srgbClr val="37444C"/>
                </a:solidFill>
                <a:latin typeface="Schibsted Grotesk"/>
              </a:rPr>
              <a:t>A rules engine checks each application against policy. Every rule cites its source.</a:t>
            </a:r>
          </a:p>
        </p:txBody>
      </p:sp>
      <p:sp>
        <p:nvSpPr>
          <p:cNvPr id="7" name="Rectangle 6"/>
          <p:cNvSpPr/>
          <p:nvPr/>
        </p:nvSpPr>
        <p:spPr>
          <a:xfrm>
            <a:off x="2956560" y="1841500"/>
            <a:ext cx="1991360" cy="1651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956560" y="1841500"/>
            <a:ext cx="1991360" cy="19050"/>
          </a:xfrm>
          <a:prstGeom prst="rect">
            <a:avLst/>
          </a:prstGeom>
          <a:solidFill>
            <a:srgbClr val="187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34360" y="2019300"/>
            <a:ext cx="163576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Scorecard</a:t>
            </a:r>
          </a:p>
        </p:txBody>
      </p:sp>
      <p:sp>
        <p:nvSpPr>
          <p:cNvPr id="10" name="TextBox 9"/>
          <p:cNvSpPr txBox="1"/>
          <p:nvPr/>
        </p:nvSpPr>
        <p:spPr>
          <a:xfrm>
            <a:off x="3134360" y="2362200"/>
            <a:ext cx="1635760" cy="1079500"/>
          </a:xfrm>
          <a:prstGeom prst="rect">
            <a:avLst/>
          </a:prstGeom>
          <a:noFill/>
        </p:spPr>
        <p:txBody>
          <a:bodyPr wrap="square" lIns="0" rIns="0" tIns="0" bIns="0" anchor="t">
            <a:spAutoFit/>
          </a:bodyPr>
          <a:lstStyle/>
          <a:p>
            <a:pPr algn="l">
              <a:lnSpc>
                <a:spcPct val="140000"/>
              </a:lnSpc>
            </a:pPr>
            <a:r>
              <a:rPr sz="1200" b="0">
                <a:solidFill>
                  <a:srgbClr val="37444C"/>
                </a:solidFill>
                <a:latin typeface="Schibsted Grotesk"/>
              </a:rPr>
              <a:t>The official score: weighted criteria, out of 100.</a:t>
            </a:r>
          </a:p>
        </p:txBody>
      </p:sp>
      <p:sp>
        <p:nvSpPr>
          <p:cNvPr id="11" name="Rectangle 10"/>
          <p:cNvSpPr/>
          <p:nvPr/>
        </p:nvSpPr>
        <p:spPr>
          <a:xfrm>
            <a:off x="5100320" y="1841500"/>
            <a:ext cx="1991360" cy="1651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00320" y="1841500"/>
            <a:ext cx="1991360" cy="19050"/>
          </a:xfrm>
          <a:prstGeom prst="rect">
            <a:avLst/>
          </a:prstGeom>
          <a:solidFill>
            <a:srgbClr val="2F7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8120" y="2019300"/>
            <a:ext cx="163576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Fuzzy advice</a:t>
            </a:r>
          </a:p>
        </p:txBody>
      </p:sp>
      <p:sp>
        <p:nvSpPr>
          <p:cNvPr id="14" name="TextBox 13"/>
          <p:cNvSpPr txBox="1"/>
          <p:nvPr/>
        </p:nvSpPr>
        <p:spPr>
          <a:xfrm>
            <a:off x="5278120" y="2362200"/>
            <a:ext cx="1635760" cy="1079500"/>
          </a:xfrm>
          <a:prstGeom prst="rect">
            <a:avLst/>
          </a:prstGeom>
          <a:noFill/>
        </p:spPr>
        <p:txBody>
          <a:bodyPr wrap="square" lIns="0" rIns="0" tIns="0" bIns="0" anchor="t">
            <a:spAutoFit/>
          </a:bodyPr>
          <a:lstStyle/>
          <a:p>
            <a:pPr algn="l">
              <a:lnSpc>
                <a:spcPct val="140000"/>
              </a:lnSpc>
            </a:pPr>
            <a:r>
              <a:rPr sz="1200" b="0">
                <a:solidFill>
                  <a:srgbClr val="37444C"/>
                </a:solidFill>
                <a:latin typeface="Schibsted Grotesk"/>
              </a:rPr>
              <a:t>A recommendation band and the rules that fired. Advisory only.</a:t>
            </a:r>
          </a:p>
        </p:txBody>
      </p:sp>
      <p:sp>
        <p:nvSpPr>
          <p:cNvPr id="15" name="Rectangle 14"/>
          <p:cNvSpPr/>
          <p:nvPr/>
        </p:nvSpPr>
        <p:spPr>
          <a:xfrm>
            <a:off x="7244080" y="1841500"/>
            <a:ext cx="1991360" cy="1651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44080" y="1841500"/>
            <a:ext cx="1991360" cy="19050"/>
          </a:xfrm>
          <a:prstGeom prst="rect">
            <a:avLst/>
          </a:prstGeom>
          <a:solidFill>
            <a:srgbClr val="187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1880" y="2019300"/>
            <a:ext cx="1635760" cy="2794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Ranking</a:t>
            </a:r>
          </a:p>
        </p:txBody>
      </p:sp>
      <p:sp>
        <p:nvSpPr>
          <p:cNvPr id="18" name="TextBox 17"/>
          <p:cNvSpPr txBox="1"/>
          <p:nvPr/>
        </p:nvSpPr>
        <p:spPr>
          <a:xfrm>
            <a:off x="7421880" y="2362200"/>
            <a:ext cx="1635760" cy="1079500"/>
          </a:xfrm>
          <a:prstGeom prst="rect">
            <a:avLst/>
          </a:prstGeom>
          <a:noFill/>
        </p:spPr>
        <p:txBody>
          <a:bodyPr wrap="square" lIns="0" rIns="0" tIns="0" bIns="0" anchor="t">
            <a:spAutoFit/>
          </a:bodyPr>
          <a:lstStyle/>
          <a:p>
            <a:pPr algn="l">
              <a:lnSpc>
                <a:spcPct val="140000"/>
              </a:lnSpc>
            </a:pPr>
            <a:r>
              <a:rPr sz="1200" b="0">
                <a:solidFill>
                  <a:srgbClr val="37444C"/>
                </a:solidFill>
                <a:latin typeface="Schibsted Grotesk"/>
              </a:rPr>
              <a:t>The official score orders the cohort; capacity sets the cut-off.</a:t>
            </a:r>
          </a:p>
        </p:txBody>
      </p:sp>
      <p:sp>
        <p:nvSpPr>
          <p:cNvPr id="19" name="Rectangle 18"/>
          <p:cNvSpPr/>
          <p:nvPr/>
        </p:nvSpPr>
        <p:spPr>
          <a:xfrm>
            <a:off x="9387840" y="1841500"/>
            <a:ext cx="1991360" cy="1651000"/>
          </a:xfrm>
          <a:prstGeom prst="rect">
            <a:avLst/>
          </a:prstGeom>
          <a:solidFill>
            <a:srgbClr val="0A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87840" y="1841500"/>
            <a:ext cx="1991360" cy="19050"/>
          </a:xfrm>
          <a:prstGeom prst="rect">
            <a:avLst/>
          </a:prstGeom>
          <a:solidFill>
            <a:srgbClr val="E3A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65640" y="2019300"/>
            <a:ext cx="1635760" cy="279400"/>
          </a:xfrm>
          <a:prstGeom prst="rect">
            <a:avLst/>
          </a:prstGeom>
          <a:noFill/>
        </p:spPr>
        <p:txBody>
          <a:bodyPr wrap="square" lIns="0" rIns="0" tIns="0" bIns="0" anchor="t">
            <a:spAutoFit/>
          </a:bodyPr>
          <a:lstStyle/>
          <a:p>
            <a:pPr algn="l">
              <a:lnSpc>
                <a:spcPct val="120000"/>
              </a:lnSpc>
            </a:pPr>
            <a:r>
              <a:rPr sz="1600" b="1">
                <a:solidFill>
                  <a:srgbClr val="F3F4EF"/>
                </a:solidFill>
                <a:latin typeface="Schibsted Grotesk"/>
              </a:rPr>
              <a:t>Governance</a:t>
            </a:r>
          </a:p>
        </p:txBody>
      </p:sp>
      <p:sp>
        <p:nvSpPr>
          <p:cNvPr id="22" name="TextBox 21"/>
          <p:cNvSpPr txBox="1"/>
          <p:nvPr/>
        </p:nvSpPr>
        <p:spPr>
          <a:xfrm>
            <a:off x="9565640" y="2362200"/>
            <a:ext cx="1635760" cy="1079500"/>
          </a:xfrm>
          <a:prstGeom prst="rect">
            <a:avLst/>
          </a:prstGeom>
          <a:noFill/>
        </p:spPr>
        <p:txBody>
          <a:bodyPr wrap="square" lIns="0" rIns="0" tIns="0" bIns="0" anchor="t">
            <a:spAutoFit/>
          </a:bodyPr>
          <a:lstStyle/>
          <a:p>
            <a:pPr algn="l">
              <a:lnSpc>
                <a:spcPct val="140000"/>
              </a:lnSpc>
            </a:pPr>
            <a:r>
              <a:rPr sz="1200" b="0">
                <a:solidFill>
                  <a:srgbClr val="B4CBDE"/>
                </a:solidFill>
                <a:latin typeface="Schibsted Grotesk"/>
              </a:rPr>
              <a:t>Panel decision, sign-offs and an approval chain with separation of duties.</a:t>
            </a:r>
          </a:p>
        </p:txBody>
      </p:sp>
      <p:pic>
        <p:nvPicPr>
          <p:cNvPr id="23" name="Picture 22" descr="uofk.jpg"/>
          <p:cNvPicPr>
            <a:picLocks noChangeAspect="1"/>
          </p:cNvPicPr>
          <p:nvPr/>
        </p:nvPicPr>
        <p:blipFill>
          <a:blip r:embed="rId3"/>
          <a:srcRect t="8238" b="8238"/>
          <a:stretch>
            <a:fillRect/>
          </a:stretch>
        </p:blipFill>
        <p:spPr>
          <a:xfrm>
            <a:off x="812800" y="3873500"/>
            <a:ext cx="3302000" cy="1841500"/>
          </a:xfrm>
          <a:prstGeom prst="rect">
            <a:avLst/>
          </a:prstGeom>
        </p:spPr>
      </p:pic>
      <p:sp>
        <p:nvSpPr>
          <p:cNvPr id="24" name="TextBox 23"/>
          <p:cNvSpPr txBox="1"/>
          <p:nvPr/>
        </p:nvSpPr>
        <p:spPr>
          <a:xfrm>
            <a:off x="4470400" y="4064000"/>
            <a:ext cx="6908800" cy="317500"/>
          </a:xfrm>
          <a:prstGeom prst="rect">
            <a:avLst/>
          </a:prstGeom>
          <a:noFill/>
        </p:spPr>
        <p:txBody>
          <a:bodyPr wrap="square" lIns="0" rIns="0" tIns="0" bIns="0" anchor="t">
            <a:spAutoFit/>
          </a:bodyPr>
          <a:lstStyle/>
          <a:p>
            <a:pPr algn="l">
              <a:lnSpc>
                <a:spcPct val="120000"/>
              </a:lnSpc>
            </a:pPr>
            <a:r>
              <a:rPr sz="1600" b="1">
                <a:solidFill>
                  <a:srgbClr val="12191D"/>
                </a:solidFill>
                <a:latin typeface="Schibsted Grotesk"/>
              </a:rPr>
              <a:t>Two tracks, kept apart on purpose.</a:t>
            </a:r>
          </a:p>
        </p:txBody>
      </p:sp>
      <p:sp>
        <p:nvSpPr>
          <p:cNvPr id="25" name="TextBox 24"/>
          <p:cNvSpPr txBox="1"/>
          <p:nvPr/>
        </p:nvSpPr>
        <p:spPr>
          <a:xfrm>
            <a:off x="4470400" y="4445000"/>
            <a:ext cx="6908800" cy="1270000"/>
          </a:xfrm>
          <a:prstGeom prst="rect">
            <a:avLst/>
          </a:prstGeom>
          <a:noFill/>
        </p:spPr>
        <p:txBody>
          <a:bodyPr wrap="square" lIns="0" rIns="0" tIns="0" bIns="0" anchor="t">
            <a:spAutoFit/>
          </a:bodyPr>
          <a:lstStyle/>
          <a:p>
            <a:pPr algn="l">
              <a:lnSpc>
                <a:spcPct val="145000"/>
              </a:lnSpc>
            </a:pPr>
            <a:r>
              <a:rPr sz="1300" b="0">
                <a:solidFill>
                  <a:srgbClr val="37444C"/>
                </a:solidFill>
                <a:latin typeface="Schibsted Grotesk"/>
              </a:rPr>
              <a:t>The scorecard is the number the panel signs and publishes. The fuzzy layer never changes it, and when the two disagree beyond a set threshold, the file goes to manual review instead of being quietly resolved.</a:t>
            </a:r>
          </a:p>
        </p:txBody>
      </p:sp>
      <p:sp>
        <p:nvSpPr>
          <p:cNvPr id="26" name="TextBox 25"/>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SmartSelect  |  Photo: Evon2023, CC0</a:t>
            </a:r>
          </a:p>
        </p:txBody>
      </p:sp>
      <p:sp>
        <p:nvSpPr>
          <p:cNvPr id="27" name="TextBox 26"/>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A2C"/>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F3F4EF"/>
                </a:solidFill>
                <a:latin typeface="Schibsted Grotesk"/>
              </a:rPr>
              <a:t>The sectors we serve</a:t>
            </a:r>
          </a:p>
        </p:txBody>
      </p:sp>
      <p:pic>
        <p:nvPicPr>
          <p:cNvPr id="3" name="Picture 2" descr="classroom.jpg"/>
          <p:cNvPicPr>
            <a:picLocks noChangeAspect="1"/>
          </p:cNvPicPr>
          <p:nvPr/>
        </p:nvPicPr>
        <p:blipFill>
          <a:blip r:embed="rId3"/>
          <a:srcRect l="6423" r="6423"/>
          <a:stretch>
            <a:fillRect/>
          </a:stretch>
        </p:blipFill>
        <p:spPr>
          <a:xfrm>
            <a:off x="812800" y="1905000"/>
            <a:ext cx="2489200" cy="1905000"/>
          </a:xfrm>
          <a:prstGeom prst="rect">
            <a:avLst/>
          </a:prstGeom>
        </p:spPr>
      </p:pic>
      <p:sp>
        <p:nvSpPr>
          <p:cNvPr id="4" name="TextBox 3"/>
          <p:cNvSpPr txBox="1"/>
          <p:nvPr/>
        </p:nvSpPr>
        <p:spPr>
          <a:xfrm>
            <a:off x="812800" y="3968750"/>
            <a:ext cx="2489200" cy="279400"/>
          </a:xfrm>
          <a:prstGeom prst="rect">
            <a:avLst/>
          </a:prstGeom>
          <a:noFill/>
        </p:spPr>
        <p:txBody>
          <a:bodyPr wrap="square" lIns="0" rIns="0" tIns="0" bIns="0" anchor="t">
            <a:spAutoFit/>
          </a:bodyPr>
          <a:lstStyle/>
          <a:p>
            <a:pPr algn="l">
              <a:lnSpc>
                <a:spcPct val="120000"/>
              </a:lnSpc>
            </a:pPr>
            <a:r>
              <a:rPr sz="1600" b="1">
                <a:solidFill>
                  <a:srgbClr val="F3F4EF"/>
                </a:solidFill>
                <a:latin typeface="Schibsted Grotesk"/>
              </a:rPr>
              <a:t>Education</a:t>
            </a:r>
          </a:p>
        </p:txBody>
      </p:sp>
      <p:sp>
        <p:nvSpPr>
          <p:cNvPr id="5" name="TextBox 4"/>
          <p:cNvSpPr txBox="1"/>
          <p:nvPr/>
        </p:nvSpPr>
        <p:spPr>
          <a:xfrm>
            <a:off x="812800" y="4318000"/>
            <a:ext cx="2489200" cy="698500"/>
          </a:xfrm>
          <a:prstGeom prst="rect">
            <a:avLst/>
          </a:prstGeom>
          <a:noFill/>
        </p:spPr>
        <p:txBody>
          <a:bodyPr wrap="square" lIns="0" rIns="0" tIns="0" bIns="0" anchor="t">
            <a:spAutoFit/>
          </a:bodyPr>
          <a:lstStyle/>
          <a:p>
            <a:pPr algn="l">
              <a:lnSpc>
                <a:spcPct val="140000"/>
              </a:lnSpc>
            </a:pPr>
            <a:r>
              <a:rPr sz="1200" b="0">
                <a:solidFill>
                  <a:srgbClr val="B4CBDE"/>
                </a:solidFill>
                <a:latin typeface="Schibsted Grotesk"/>
              </a:rPr>
              <a:t>Learners, schools and families following the national curriculum.</a:t>
            </a:r>
          </a:p>
        </p:txBody>
      </p:sp>
      <p:sp>
        <p:nvSpPr>
          <p:cNvPr id="6" name="TextBox 5"/>
          <p:cNvSpPr txBox="1"/>
          <p:nvPr/>
        </p:nvSpPr>
        <p:spPr>
          <a:xfrm>
            <a:off x="812800" y="5080000"/>
            <a:ext cx="2489200" cy="203200"/>
          </a:xfrm>
          <a:prstGeom prst="rect">
            <a:avLst/>
          </a:prstGeom>
          <a:noFill/>
        </p:spPr>
        <p:txBody>
          <a:bodyPr wrap="square" lIns="0" rIns="0" tIns="0" bIns="0" anchor="t">
            <a:spAutoFit/>
          </a:bodyPr>
          <a:lstStyle/>
          <a:p>
            <a:pPr algn="l">
              <a:lnSpc>
                <a:spcPct val="120000"/>
              </a:lnSpc>
            </a:pPr>
            <a:r>
              <a:rPr sz="1200" b="1">
                <a:solidFill>
                  <a:srgbClr val="30A8D8"/>
                </a:solidFill>
                <a:latin typeface="Schibsted Grotesk"/>
              </a:rPr>
              <a:t>SudaTutor</a:t>
            </a:r>
          </a:p>
        </p:txBody>
      </p:sp>
      <p:pic>
        <p:nvPicPr>
          <p:cNvPr id="7" name="Picture 6" descr="servers.jpg"/>
          <p:cNvPicPr>
            <a:picLocks noChangeAspect="1"/>
          </p:cNvPicPr>
          <p:nvPr/>
        </p:nvPicPr>
        <p:blipFill>
          <a:blip r:embed="rId4"/>
          <a:srcRect l="13250" r="13250"/>
          <a:stretch>
            <a:fillRect/>
          </a:stretch>
        </p:blipFill>
        <p:spPr>
          <a:xfrm>
            <a:off x="3505200" y="1905000"/>
            <a:ext cx="2489200" cy="1905000"/>
          </a:xfrm>
          <a:prstGeom prst="rect">
            <a:avLst/>
          </a:prstGeom>
        </p:spPr>
      </p:pic>
      <p:sp>
        <p:nvSpPr>
          <p:cNvPr id="8" name="TextBox 7"/>
          <p:cNvSpPr txBox="1"/>
          <p:nvPr/>
        </p:nvSpPr>
        <p:spPr>
          <a:xfrm>
            <a:off x="3505200" y="3968750"/>
            <a:ext cx="2489200" cy="279400"/>
          </a:xfrm>
          <a:prstGeom prst="rect">
            <a:avLst/>
          </a:prstGeom>
          <a:noFill/>
        </p:spPr>
        <p:txBody>
          <a:bodyPr wrap="square" lIns="0" rIns="0" tIns="0" bIns="0" anchor="t">
            <a:spAutoFit/>
          </a:bodyPr>
          <a:lstStyle/>
          <a:p>
            <a:pPr algn="l">
              <a:lnSpc>
                <a:spcPct val="120000"/>
              </a:lnSpc>
            </a:pPr>
            <a:r>
              <a:rPr sz="1600" b="1">
                <a:solidFill>
                  <a:srgbClr val="F3F4EF"/>
                </a:solidFill>
                <a:latin typeface="Schibsted Grotesk"/>
              </a:rPr>
              <a:t>Enterprise and tech</a:t>
            </a:r>
          </a:p>
        </p:txBody>
      </p:sp>
      <p:sp>
        <p:nvSpPr>
          <p:cNvPr id="9" name="TextBox 8"/>
          <p:cNvSpPr txBox="1"/>
          <p:nvPr/>
        </p:nvSpPr>
        <p:spPr>
          <a:xfrm>
            <a:off x="3505200" y="4318000"/>
            <a:ext cx="2489200" cy="698500"/>
          </a:xfrm>
          <a:prstGeom prst="rect">
            <a:avLst/>
          </a:prstGeom>
          <a:noFill/>
        </p:spPr>
        <p:txBody>
          <a:bodyPr wrap="square" lIns="0" rIns="0" tIns="0" bIns="0" anchor="t">
            <a:spAutoFit/>
          </a:bodyPr>
          <a:lstStyle/>
          <a:p>
            <a:pPr algn="l">
              <a:lnSpc>
                <a:spcPct val="140000"/>
              </a:lnSpc>
            </a:pPr>
            <a:r>
              <a:rPr sz="1200" b="0">
                <a:solidFill>
                  <a:srgbClr val="B4CBDE"/>
                </a:solidFill>
                <a:latin typeface="Schibsted Grotesk"/>
              </a:rPr>
              <a:t>Teams running AI agents on their own infrastructure.</a:t>
            </a:r>
          </a:p>
        </p:txBody>
      </p:sp>
      <p:sp>
        <p:nvSpPr>
          <p:cNvPr id="10" name="TextBox 9"/>
          <p:cNvSpPr txBox="1"/>
          <p:nvPr/>
        </p:nvSpPr>
        <p:spPr>
          <a:xfrm>
            <a:off x="3505200" y="5080000"/>
            <a:ext cx="2489200" cy="203200"/>
          </a:xfrm>
          <a:prstGeom prst="rect">
            <a:avLst/>
          </a:prstGeom>
          <a:noFill/>
        </p:spPr>
        <p:txBody>
          <a:bodyPr wrap="square" lIns="0" rIns="0" tIns="0" bIns="0" anchor="t">
            <a:spAutoFit/>
          </a:bodyPr>
          <a:lstStyle/>
          <a:p>
            <a:pPr algn="l">
              <a:lnSpc>
                <a:spcPct val="120000"/>
              </a:lnSpc>
            </a:pPr>
            <a:r>
              <a:rPr sz="1200" b="1">
                <a:solidFill>
                  <a:srgbClr val="4CAF50"/>
                </a:solidFill>
                <a:latin typeface="Schibsted Grotesk"/>
              </a:rPr>
              <a:t>NodeGrid</a:t>
            </a:r>
          </a:p>
        </p:txBody>
      </p:sp>
      <p:pic>
        <p:nvPicPr>
          <p:cNvPr id="11" name="Picture 10" descr="uofk.jpg"/>
          <p:cNvPicPr>
            <a:picLocks noChangeAspect="1"/>
          </p:cNvPicPr>
          <p:nvPr/>
        </p:nvPicPr>
        <p:blipFill>
          <a:blip r:embed="rId5"/>
          <a:srcRect l="6376" r="6376"/>
          <a:stretch>
            <a:fillRect/>
          </a:stretch>
        </p:blipFill>
        <p:spPr>
          <a:xfrm>
            <a:off x="6197600" y="1905000"/>
            <a:ext cx="2489200" cy="1905000"/>
          </a:xfrm>
          <a:prstGeom prst="rect">
            <a:avLst/>
          </a:prstGeom>
        </p:spPr>
      </p:pic>
      <p:sp>
        <p:nvSpPr>
          <p:cNvPr id="12" name="TextBox 11"/>
          <p:cNvSpPr txBox="1"/>
          <p:nvPr/>
        </p:nvSpPr>
        <p:spPr>
          <a:xfrm>
            <a:off x="6197600" y="3968750"/>
            <a:ext cx="2489200" cy="279400"/>
          </a:xfrm>
          <a:prstGeom prst="rect">
            <a:avLst/>
          </a:prstGeom>
          <a:noFill/>
        </p:spPr>
        <p:txBody>
          <a:bodyPr wrap="square" lIns="0" rIns="0" tIns="0" bIns="0" anchor="t">
            <a:spAutoFit/>
          </a:bodyPr>
          <a:lstStyle/>
          <a:p>
            <a:pPr algn="l">
              <a:lnSpc>
                <a:spcPct val="120000"/>
              </a:lnSpc>
            </a:pPr>
            <a:r>
              <a:rPr sz="1600" b="1">
                <a:solidFill>
                  <a:srgbClr val="F3F4EF"/>
                </a:solidFill>
                <a:latin typeface="Schibsted Grotesk"/>
              </a:rPr>
              <a:t>Universities</a:t>
            </a:r>
          </a:p>
        </p:txBody>
      </p:sp>
      <p:sp>
        <p:nvSpPr>
          <p:cNvPr id="13" name="TextBox 12"/>
          <p:cNvSpPr txBox="1"/>
          <p:nvPr/>
        </p:nvSpPr>
        <p:spPr>
          <a:xfrm>
            <a:off x="6197600" y="4318000"/>
            <a:ext cx="2489200" cy="698500"/>
          </a:xfrm>
          <a:prstGeom prst="rect">
            <a:avLst/>
          </a:prstGeom>
          <a:noFill/>
        </p:spPr>
        <p:txBody>
          <a:bodyPr wrap="square" lIns="0" rIns="0" tIns="0" bIns="0" anchor="t">
            <a:spAutoFit/>
          </a:bodyPr>
          <a:lstStyle/>
          <a:p>
            <a:pPr algn="l">
              <a:lnSpc>
                <a:spcPct val="140000"/>
              </a:lnSpc>
            </a:pPr>
            <a:r>
              <a:rPr sz="1200" b="0">
                <a:solidFill>
                  <a:srgbClr val="B4CBDE"/>
                </a:solidFill>
                <a:latin typeface="Schibsted Grotesk"/>
              </a:rPr>
              <a:t>Admission committees, scholarships and grants.</a:t>
            </a:r>
          </a:p>
        </p:txBody>
      </p:sp>
      <p:sp>
        <p:nvSpPr>
          <p:cNvPr id="14" name="TextBox 13"/>
          <p:cNvSpPr txBox="1"/>
          <p:nvPr/>
        </p:nvSpPr>
        <p:spPr>
          <a:xfrm>
            <a:off x="6197600" y="5080000"/>
            <a:ext cx="2489200" cy="203200"/>
          </a:xfrm>
          <a:prstGeom prst="rect">
            <a:avLst/>
          </a:prstGeom>
          <a:noFill/>
        </p:spPr>
        <p:txBody>
          <a:bodyPr wrap="square" lIns="0" rIns="0" tIns="0" bIns="0" anchor="t">
            <a:spAutoFit/>
          </a:bodyPr>
          <a:lstStyle/>
          <a:p>
            <a:pPr algn="l">
              <a:lnSpc>
                <a:spcPct val="120000"/>
              </a:lnSpc>
            </a:pPr>
            <a:r>
              <a:rPr sz="1200" b="1">
                <a:solidFill>
                  <a:srgbClr val="E3A27F"/>
                </a:solidFill>
                <a:latin typeface="Schibsted Grotesk"/>
              </a:rPr>
              <a:t>SmartSelect</a:t>
            </a:r>
          </a:p>
        </p:txBody>
      </p:sp>
      <p:pic>
        <p:nvPicPr>
          <p:cNvPr id="15" name="Picture 14" descr="interview.jpg"/>
          <p:cNvPicPr>
            <a:picLocks noChangeAspect="1"/>
          </p:cNvPicPr>
          <p:nvPr/>
        </p:nvPicPr>
        <p:blipFill>
          <a:blip r:embed="rId6"/>
          <a:srcRect l="6444" r="6444"/>
          <a:stretch>
            <a:fillRect/>
          </a:stretch>
        </p:blipFill>
        <p:spPr>
          <a:xfrm>
            <a:off x="8890000" y="1905000"/>
            <a:ext cx="2489200" cy="1905000"/>
          </a:xfrm>
          <a:prstGeom prst="rect">
            <a:avLst/>
          </a:prstGeom>
        </p:spPr>
      </p:pic>
      <p:sp>
        <p:nvSpPr>
          <p:cNvPr id="16" name="TextBox 15"/>
          <p:cNvSpPr txBox="1"/>
          <p:nvPr/>
        </p:nvSpPr>
        <p:spPr>
          <a:xfrm>
            <a:off x="8890000" y="3968750"/>
            <a:ext cx="2489200" cy="279400"/>
          </a:xfrm>
          <a:prstGeom prst="rect">
            <a:avLst/>
          </a:prstGeom>
          <a:noFill/>
        </p:spPr>
        <p:txBody>
          <a:bodyPr wrap="square" lIns="0" rIns="0" tIns="0" bIns="0" anchor="t">
            <a:spAutoFit/>
          </a:bodyPr>
          <a:lstStyle/>
          <a:p>
            <a:pPr algn="l">
              <a:lnSpc>
                <a:spcPct val="120000"/>
              </a:lnSpc>
            </a:pPr>
            <a:r>
              <a:rPr sz="1600" b="1">
                <a:solidFill>
                  <a:srgbClr val="F3F4EF"/>
                </a:solidFill>
                <a:latin typeface="Schibsted Grotesk"/>
              </a:rPr>
              <a:t>Public sector and HR</a:t>
            </a:r>
          </a:p>
        </p:txBody>
      </p:sp>
      <p:sp>
        <p:nvSpPr>
          <p:cNvPr id="17" name="TextBox 16"/>
          <p:cNvSpPr txBox="1"/>
          <p:nvPr/>
        </p:nvSpPr>
        <p:spPr>
          <a:xfrm>
            <a:off x="8890000" y="4318000"/>
            <a:ext cx="2489200" cy="698500"/>
          </a:xfrm>
          <a:prstGeom prst="rect">
            <a:avLst/>
          </a:prstGeom>
          <a:noFill/>
        </p:spPr>
        <p:txBody>
          <a:bodyPr wrap="square" lIns="0" rIns="0" tIns="0" bIns="0" anchor="t">
            <a:spAutoFit/>
          </a:bodyPr>
          <a:lstStyle/>
          <a:p>
            <a:pPr algn="l">
              <a:lnSpc>
                <a:spcPct val="140000"/>
              </a:lnSpc>
            </a:pPr>
            <a:r>
              <a:rPr sz="1200" b="0">
                <a:solidFill>
                  <a:srgbClr val="B4CBDE"/>
                </a:solidFill>
                <a:latin typeface="Schibsted Grotesk"/>
              </a:rPr>
              <a:t>Hiring, promotion and clinical residency.</a:t>
            </a:r>
          </a:p>
        </p:txBody>
      </p:sp>
      <p:sp>
        <p:nvSpPr>
          <p:cNvPr id="18" name="TextBox 17"/>
          <p:cNvSpPr txBox="1"/>
          <p:nvPr/>
        </p:nvSpPr>
        <p:spPr>
          <a:xfrm>
            <a:off x="8890000" y="5080000"/>
            <a:ext cx="2489200" cy="203200"/>
          </a:xfrm>
          <a:prstGeom prst="rect">
            <a:avLst/>
          </a:prstGeom>
          <a:noFill/>
        </p:spPr>
        <p:txBody>
          <a:bodyPr wrap="square" lIns="0" rIns="0" tIns="0" bIns="0" anchor="t">
            <a:spAutoFit/>
          </a:bodyPr>
          <a:lstStyle/>
          <a:p>
            <a:pPr algn="l">
              <a:lnSpc>
                <a:spcPct val="120000"/>
              </a:lnSpc>
            </a:pPr>
            <a:r>
              <a:rPr sz="1200" b="1">
                <a:solidFill>
                  <a:srgbClr val="E3A27F"/>
                </a:solidFill>
                <a:latin typeface="Schibsted Grotesk"/>
              </a:rPr>
              <a:t>SmartSelect</a:t>
            </a:r>
          </a:p>
        </p:txBody>
      </p:sp>
      <p:sp>
        <p:nvSpPr>
          <p:cNvPr id="19" name="TextBox 18"/>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B4CBDE"/>
                </a:solidFill>
                <a:latin typeface="Schibsted Grotesk"/>
              </a:rPr>
              <a:t>Photos: AMISOM (public domain), rawpixel (CC0), Evon2023 (CC0), Alan Cleaver (CC BY 2.0)</a:t>
            </a:r>
          </a:p>
        </p:txBody>
      </p:sp>
      <p:sp>
        <p:nvSpPr>
          <p:cNvPr id="20" name="TextBox 19"/>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B4CBDE"/>
                </a:solidFill>
                <a:latin typeface="JetBrains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4EF"/>
        </a:solidFill>
        <a:effectLst/>
      </p:bgPr>
    </p:bg>
    <p:spTree>
      <p:nvGrpSpPr>
        <p:cNvPr id="1" name=""/>
        <p:cNvGrpSpPr/>
        <p:nvPr/>
      </p:nvGrpSpPr>
      <p:grpSpPr/>
      <p:sp>
        <p:nvSpPr>
          <p:cNvPr id="2" name="TextBox 1"/>
          <p:cNvSpPr txBox="1"/>
          <p:nvPr/>
        </p:nvSpPr>
        <p:spPr>
          <a:xfrm>
            <a:off x="812800" y="812800"/>
            <a:ext cx="105664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What every platform shares</a:t>
            </a:r>
          </a:p>
        </p:txBody>
      </p:sp>
      <p:sp>
        <p:nvSpPr>
          <p:cNvPr id="3" name="Rectangle 2"/>
          <p:cNvSpPr/>
          <p:nvPr/>
        </p:nvSpPr>
        <p:spPr>
          <a:xfrm>
            <a:off x="812800" y="1841500"/>
            <a:ext cx="10566400" cy="12700"/>
          </a:xfrm>
          <a:prstGeom prst="rect">
            <a:avLst/>
          </a:prstGeom>
          <a:solidFill>
            <a:srgbClr val="121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070100"/>
            <a:ext cx="3302000" cy="355600"/>
          </a:xfrm>
          <a:prstGeom prst="rect">
            <a:avLst/>
          </a:prstGeom>
          <a:noFill/>
        </p:spPr>
        <p:txBody>
          <a:bodyPr wrap="square" lIns="0" rIns="0" tIns="0" bIns="0" anchor="t">
            <a:spAutoFit/>
          </a:bodyPr>
          <a:lstStyle/>
          <a:p>
            <a:pPr algn="l">
              <a:lnSpc>
                <a:spcPct val="120000"/>
              </a:lnSpc>
            </a:pPr>
            <a:r>
              <a:rPr sz="2200" b="1">
                <a:solidFill>
                  <a:srgbClr val="1873AD"/>
                </a:solidFill>
                <a:latin typeface="Schibsted Grotesk"/>
              </a:rPr>
              <a:t>Built for Sudan</a:t>
            </a:r>
          </a:p>
        </p:txBody>
      </p:sp>
      <p:sp>
        <p:nvSpPr>
          <p:cNvPr id="5" name="TextBox 4"/>
          <p:cNvSpPr txBox="1"/>
          <p:nvPr/>
        </p:nvSpPr>
        <p:spPr>
          <a:xfrm>
            <a:off x="812800" y="2501900"/>
            <a:ext cx="3302000" cy="254000"/>
          </a:xfrm>
          <a:prstGeom prst="rect">
            <a:avLst/>
          </a:prstGeom>
          <a:noFill/>
        </p:spPr>
        <p:txBody>
          <a:bodyPr wrap="square" lIns="0" rIns="0" tIns="0" bIns="0" anchor="t">
            <a:spAutoFit/>
          </a:bodyPr>
          <a:lstStyle/>
          <a:p>
            <a:pPr algn="l">
              <a:lnSpc>
                <a:spcPct val="120000"/>
              </a:lnSpc>
            </a:pPr>
            <a:r>
              <a:rPr sz="1300" b="0">
                <a:solidFill>
                  <a:srgbClr val="37444C"/>
                </a:solidFill>
                <a:latin typeface="Schibsted Grotesk"/>
              </a:rPr>
              <a:t>Arabic-first, designed around local realities.</a:t>
            </a:r>
          </a:p>
        </p:txBody>
      </p:sp>
      <p:sp>
        <p:nvSpPr>
          <p:cNvPr id="6" name="TextBox 5"/>
          <p:cNvSpPr txBox="1"/>
          <p:nvPr/>
        </p:nvSpPr>
        <p:spPr>
          <a:xfrm>
            <a:off x="4470400" y="2070100"/>
            <a:ext cx="6908800" cy="889000"/>
          </a:xfrm>
          <a:prstGeom prst="rect">
            <a:avLst/>
          </a:prstGeom>
          <a:noFill/>
        </p:spPr>
        <p:txBody>
          <a:bodyPr wrap="square" lIns="0" rIns="0" tIns="0" bIns="0" anchor="t">
            <a:spAutoFit/>
          </a:bodyPr>
          <a:lstStyle/>
          <a:p>
            <a:pPr algn="l">
              <a:lnSpc>
                <a:spcPct val="145000"/>
              </a:lnSpc>
            </a:pPr>
            <a:r>
              <a:rPr sz="1400" b="0">
                <a:solidFill>
                  <a:srgbClr val="12191D"/>
                </a:solidFill>
                <a:latin typeface="Schibsted Grotesk"/>
              </a:rPr>
              <a:t>SudaTutor follows the Sudanese national curriculum. SmartSelect opens in Arabic, right to left, by default.</a:t>
            </a:r>
          </a:p>
        </p:txBody>
      </p:sp>
      <p:sp>
        <p:nvSpPr>
          <p:cNvPr id="7" name="Rectangle 6"/>
          <p:cNvSpPr/>
          <p:nvPr/>
        </p:nvSpPr>
        <p:spPr>
          <a:xfrm>
            <a:off x="812800" y="3111500"/>
            <a:ext cx="105664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3340100"/>
            <a:ext cx="3302000" cy="355600"/>
          </a:xfrm>
          <a:prstGeom prst="rect">
            <a:avLst/>
          </a:prstGeom>
          <a:noFill/>
        </p:spPr>
        <p:txBody>
          <a:bodyPr wrap="square" lIns="0" rIns="0" tIns="0" bIns="0" anchor="t">
            <a:spAutoFit/>
          </a:bodyPr>
          <a:lstStyle/>
          <a:p>
            <a:pPr algn="l">
              <a:lnSpc>
                <a:spcPct val="120000"/>
              </a:lnSpc>
            </a:pPr>
            <a:r>
              <a:rPr sz="2200" b="1">
                <a:solidFill>
                  <a:srgbClr val="2F7D36"/>
                </a:solidFill>
                <a:latin typeface="Schibsted Grotesk"/>
              </a:rPr>
              <a:t>Secure by design</a:t>
            </a:r>
          </a:p>
        </p:txBody>
      </p:sp>
      <p:sp>
        <p:nvSpPr>
          <p:cNvPr id="9" name="TextBox 8"/>
          <p:cNvSpPr txBox="1"/>
          <p:nvPr/>
        </p:nvSpPr>
        <p:spPr>
          <a:xfrm>
            <a:off x="812800" y="3771900"/>
            <a:ext cx="3302000" cy="254000"/>
          </a:xfrm>
          <a:prstGeom prst="rect">
            <a:avLst/>
          </a:prstGeom>
          <a:noFill/>
        </p:spPr>
        <p:txBody>
          <a:bodyPr wrap="square" lIns="0" rIns="0" tIns="0" bIns="0" anchor="t">
            <a:spAutoFit/>
          </a:bodyPr>
          <a:lstStyle/>
          <a:p>
            <a:pPr algn="l">
              <a:lnSpc>
                <a:spcPct val="120000"/>
              </a:lnSpc>
            </a:pPr>
            <a:r>
              <a:rPr sz="1300" b="0">
                <a:solidFill>
                  <a:srgbClr val="37444C"/>
                </a:solidFill>
                <a:latin typeface="Schibsted Grotesk"/>
              </a:rPr>
              <a:t>Protected from the first decision.</a:t>
            </a:r>
          </a:p>
        </p:txBody>
      </p:sp>
      <p:sp>
        <p:nvSpPr>
          <p:cNvPr id="10" name="TextBox 9"/>
          <p:cNvSpPr txBox="1"/>
          <p:nvPr/>
        </p:nvSpPr>
        <p:spPr>
          <a:xfrm>
            <a:off x="4470400" y="3340100"/>
            <a:ext cx="6908800" cy="889000"/>
          </a:xfrm>
          <a:prstGeom prst="rect">
            <a:avLst/>
          </a:prstGeom>
          <a:noFill/>
        </p:spPr>
        <p:txBody>
          <a:bodyPr wrap="square" lIns="0" rIns="0" tIns="0" bIns="0" anchor="t">
            <a:spAutoFit/>
          </a:bodyPr>
          <a:lstStyle/>
          <a:p>
            <a:pPr algn="l">
              <a:lnSpc>
                <a:spcPct val="145000"/>
              </a:lnSpc>
            </a:pPr>
            <a:r>
              <a:rPr sz="1400" b="0">
                <a:solidFill>
                  <a:srgbClr val="12191D"/>
                </a:solidFill>
                <a:latin typeface="Schibsted Grotesk"/>
              </a:rPr>
              <a:t>NodeGrid isolates every tenant and enforces roles. SmartSelect separates duties along its approval chain and audits every change.</a:t>
            </a:r>
          </a:p>
        </p:txBody>
      </p:sp>
      <p:sp>
        <p:nvSpPr>
          <p:cNvPr id="11" name="Rectangle 10"/>
          <p:cNvSpPr/>
          <p:nvPr/>
        </p:nvSpPr>
        <p:spPr>
          <a:xfrm>
            <a:off x="812800" y="4381500"/>
            <a:ext cx="105664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4610100"/>
            <a:ext cx="3302000" cy="355600"/>
          </a:xfrm>
          <a:prstGeom prst="rect">
            <a:avLst/>
          </a:prstGeom>
          <a:noFill/>
        </p:spPr>
        <p:txBody>
          <a:bodyPr wrap="square" lIns="0" rIns="0" tIns="0" bIns="0" anchor="t">
            <a:spAutoFit/>
          </a:bodyPr>
          <a:lstStyle/>
          <a:p>
            <a:pPr algn="l">
              <a:lnSpc>
                <a:spcPct val="120000"/>
              </a:lnSpc>
            </a:pPr>
            <a:r>
              <a:rPr sz="2200" b="1">
                <a:solidFill>
                  <a:srgbClr val="AB5426"/>
                </a:solidFill>
                <a:latin typeface="Schibsted Grotesk"/>
              </a:rPr>
              <a:t>Yours to run</a:t>
            </a:r>
          </a:p>
        </p:txBody>
      </p:sp>
      <p:sp>
        <p:nvSpPr>
          <p:cNvPr id="13" name="TextBox 12"/>
          <p:cNvSpPr txBox="1"/>
          <p:nvPr/>
        </p:nvSpPr>
        <p:spPr>
          <a:xfrm>
            <a:off x="812800" y="5041900"/>
            <a:ext cx="3302000" cy="254000"/>
          </a:xfrm>
          <a:prstGeom prst="rect">
            <a:avLst/>
          </a:prstGeom>
          <a:noFill/>
        </p:spPr>
        <p:txBody>
          <a:bodyPr wrap="square" lIns="0" rIns="0" tIns="0" bIns="0" anchor="t">
            <a:spAutoFit/>
          </a:bodyPr>
          <a:lstStyle/>
          <a:p>
            <a:pPr algn="l">
              <a:lnSpc>
                <a:spcPct val="120000"/>
              </a:lnSpc>
            </a:pPr>
            <a:r>
              <a:rPr sz="1300" b="0">
                <a:solidFill>
                  <a:srgbClr val="37444C"/>
                </a:solidFill>
                <a:latin typeface="Schibsted Grotesk"/>
              </a:rPr>
              <a:t>Your environment, your data.</a:t>
            </a:r>
          </a:p>
        </p:txBody>
      </p:sp>
      <p:sp>
        <p:nvSpPr>
          <p:cNvPr id="14" name="TextBox 13"/>
          <p:cNvSpPr txBox="1"/>
          <p:nvPr/>
        </p:nvSpPr>
        <p:spPr>
          <a:xfrm>
            <a:off x="4470400" y="4610100"/>
            <a:ext cx="6908800" cy="889000"/>
          </a:xfrm>
          <a:prstGeom prst="rect">
            <a:avLst/>
          </a:prstGeom>
          <a:noFill/>
        </p:spPr>
        <p:txBody>
          <a:bodyPr wrap="square" lIns="0" rIns="0" tIns="0" bIns="0" anchor="t">
            <a:spAutoFit/>
          </a:bodyPr>
          <a:lstStyle/>
          <a:p>
            <a:pPr algn="l">
              <a:lnSpc>
                <a:spcPct val="145000"/>
              </a:lnSpc>
            </a:pPr>
            <a:r>
              <a:rPr sz="1400" b="0">
                <a:solidFill>
                  <a:srgbClr val="12191D"/>
                </a:solidFill>
                <a:latin typeface="Schibsted Grotesk"/>
              </a:rPr>
              <a:t>NodeGrid and SmartSelect deploy inside the customer's own environment. Training and documentation leave the team owning what we deliver.</a:t>
            </a:r>
          </a:p>
        </p:txBody>
      </p:sp>
      <p:sp>
        <p:nvSpPr>
          <p:cNvPr id="15" name="Rectangle 14"/>
          <p:cNvSpPr/>
          <p:nvPr/>
        </p:nvSpPr>
        <p:spPr>
          <a:xfrm>
            <a:off x="812800" y="5651500"/>
            <a:ext cx="105664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Leading projects</a:t>
            </a:r>
          </a:p>
        </p:txBody>
      </p:sp>
      <p:sp>
        <p:nvSpPr>
          <p:cNvPr id="17" name="TextBox 16"/>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BE4"/>
        </a:solidFill>
        <a:effectLst/>
      </p:bgPr>
    </p:bg>
    <p:spTree>
      <p:nvGrpSpPr>
        <p:cNvPr id="1" name=""/>
        <p:cNvGrpSpPr/>
        <p:nvPr/>
      </p:nvGrpSpPr>
      <p:grpSpPr/>
      <p:sp>
        <p:nvSpPr>
          <p:cNvPr id="2" name="TextBox 1"/>
          <p:cNvSpPr txBox="1"/>
          <p:nvPr/>
        </p:nvSpPr>
        <p:spPr>
          <a:xfrm>
            <a:off x="812800" y="812800"/>
            <a:ext cx="10160000" cy="1051560"/>
          </a:xfrm>
          <a:prstGeom prst="rect">
            <a:avLst/>
          </a:prstGeom>
          <a:noFill/>
        </p:spPr>
        <p:txBody>
          <a:bodyPr wrap="square" lIns="0" rIns="0" tIns="0" bIns="0" anchor="t">
            <a:spAutoFit/>
          </a:bodyPr>
          <a:lstStyle/>
          <a:p>
            <a:pPr algn="l">
              <a:lnSpc>
                <a:spcPct val="105000"/>
              </a:lnSpc>
            </a:pPr>
            <a:r>
              <a:rPr sz="3600" b="1">
                <a:solidFill>
                  <a:srgbClr val="12191D"/>
                </a:solidFill>
                <a:latin typeface="Schibsted Grotesk"/>
              </a:rPr>
              <a:t>A clear path from first conversation to a system your team owns</a:t>
            </a:r>
          </a:p>
        </p:txBody>
      </p:sp>
      <p:sp>
        <p:nvSpPr>
          <p:cNvPr id="3" name="Rectangle 2"/>
          <p:cNvSpPr/>
          <p:nvPr/>
        </p:nvSpPr>
        <p:spPr>
          <a:xfrm>
            <a:off x="812800" y="2413000"/>
            <a:ext cx="2641600" cy="19050"/>
          </a:xfrm>
          <a:prstGeom prst="rect">
            <a:avLst/>
          </a:prstGeom>
          <a:solidFill>
            <a:srgbClr val="AB5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641600"/>
            <a:ext cx="2336800" cy="203200"/>
          </a:xfrm>
          <a:prstGeom prst="rect">
            <a:avLst/>
          </a:prstGeom>
          <a:noFill/>
        </p:spPr>
        <p:txBody>
          <a:bodyPr wrap="square" lIns="0" rIns="0" tIns="0" bIns="0" anchor="t">
            <a:spAutoFit/>
          </a:bodyPr>
          <a:lstStyle/>
          <a:p>
            <a:pPr algn="l">
              <a:lnSpc>
                <a:spcPct val="120000"/>
              </a:lnSpc>
            </a:pPr>
            <a:r>
              <a:rPr sz="1200" b="0">
                <a:solidFill>
                  <a:srgbClr val="AB5426"/>
                </a:solidFill>
                <a:latin typeface="JetBrains Mono"/>
              </a:rPr>
              <a:t>01</a:t>
            </a:r>
          </a:p>
        </p:txBody>
      </p:sp>
      <p:sp>
        <p:nvSpPr>
          <p:cNvPr id="5" name="TextBox 4"/>
          <p:cNvSpPr txBox="1"/>
          <p:nvPr/>
        </p:nvSpPr>
        <p:spPr>
          <a:xfrm>
            <a:off x="812800" y="2921000"/>
            <a:ext cx="2336800" cy="635000"/>
          </a:xfrm>
          <a:prstGeom prst="rect">
            <a:avLst/>
          </a:prstGeom>
          <a:noFill/>
        </p:spPr>
        <p:txBody>
          <a:bodyPr wrap="square" lIns="0" rIns="0" tIns="0" bIns="0" anchor="t">
            <a:spAutoFit/>
          </a:bodyPr>
          <a:lstStyle/>
          <a:p>
            <a:pPr algn="l">
              <a:lnSpc>
                <a:spcPct val="105000"/>
              </a:lnSpc>
            </a:pPr>
            <a:r>
              <a:rPr sz="2000" b="1">
                <a:solidFill>
                  <a:srgbClr val="12191D"/>
                </a:solidFill>
                <a:latin typeface="Schibsted Grotesk"/>
              </a:rPr>
              <a:t>Understand</a:t>
            </a:r>
          </a:p>
        </p:txBody>
      </p:sp>
      <p:sp>
        <p:nvSpPr>
          <p:cNvPr id="6" name="TextBox 5"/>
          <p:cNvSpPr txBox="1"/>
          <p:nvPr/>
        </p:nvSpPr>
        <p:spPr>
          <a:xfrm>
            <a:off x="812800" y="3619500"/>
            <a:ext cx="2336800" cy="12700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Every engagement starts with a conversation about the problem, the people and the constraints.</a:t>
            </a:r>
          </a:p>
        </p:txBody>
      </p:sp>
      <p:sp>
        <p:nvSpPr>
          <p:cNvPr id="7" name="Rectangle 6"/>
          <p:cNvSpPr/>
          <p:nvPr/>
        </p:nvSpPr>
        <p:spPr>
          <a:xfrm>
            <a:off x="3454400" y="2413000"/>
            <a:ext cx="2641600" cy="190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54400" y="2641600"/>
            <a:ext cx="23368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JetBrains Mono"/>
              </a:rPr>
              <a:t>02</a:t>
            </a:r>
          </a:p>
        </p:txBody>
      </p:sp>
      <p:sp>
        <p:nvSpPr>
          <p:cNvPr id="9" name="TextBox 8"/>
          <p:cNvSpPr txBox="1"/>
          <p:nvPr/>
        </p:nvSpPr>
        <p:spPr>
          <a:xfrm>
            <a:off x="3454400" y="2921000"/>
            <a:ext cx="2336800" cy="635000"/>
          </a:xfrm>
          <a:prstGeom prst="rect">
            <a:avLst/>
          </a:prstGeom>
          <a:noFill/>
        </p:spPr>
        <p:txBody>
          <a:bodyPr wrap="square" lIns="0" rIns="0" tIns="0" bIns="0" anchor="t">
            <a:spAutoFit/>
          </a:bodyPr>
          <a:lstStyle/>
          <a:p>
            <a:pPr algn="l">
              <a:lnSpc>
                <a:spcPct val="105000"/>
              </a:lnSpc>
            </a:pPr>
            <a:r>
              <a:rPr sz="2000" b="1">
                <a:solidFill>
                  <a:srgbClr val="12191D"/>
                </a:solidFill>
                <a:latin typeface="Schibsted Grotesk"/>
              </a:rPr>
              <a:t>Plan</a:t>
            </a:r>
          </a:p>
        </p:txBody>
      </p:sp>
      <p:sp>
        <p:nvSpPr>
          <p:cNvPr id="10" name="TextBox 9"/>
          <p:cNvSpPr txBox="1"/>
          <p:nvPr/>
        </p:nvSpPr>
        <p:spPr>
          <a:xfrm>
            <a:off x="3454400" y="3619500"/>
            <a:ext cx="2336800" cy="12700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We recommend the architecture and technology before anything is bought or built.</a:t>
            </a:r>
          </a:p>
        </p:txBody>
      </p:sp>
      <p:sp>
        <p:nvSpPr>
          <p:cNvPr id="11" name="Rectangle 10"/>
          <p:cNvSpPr/>
          <p:nvPr/>
        </p:nvSpPr>
        <p:spPr>
          <a:xfrm>
            <a:off x="6096000" y="2413000"/>
            <a:ext cx="2641600" cy="190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0" y="2641600"/>
            <a:ext cx="23368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JetBrains Mono"/>
              </a:rPr>
              <a:t>03</a:t>
            </a:r>
          </a:p>
        </p:txBody>
      </p:sp>
      <p:sp>
        <p:nvSpPr>
          <p:cNvPr id="13" name="TextBox 12"/>
          <p:cNvSpPr txBox="1"/>
          <p:nvPr/>
        </p:nvSpPr>
        <p:spPr>
          <a:xfrm>
            <a:off x="6096000" y="2921000"/>
            <a:ext cx="2336800" cy="635000"/>
          </a:xfrm>
          <a:prstGeom prst="rect">
            <a:avLst/>
          </a:prstGeom>
          <a:noFill/>
        </p:spPr>
        <p:txBody>
          <a:bodyPr wrap="square" lIns="0" rIns="0" tIns="0" bIns="0" anchor="t">
            <a:spAutoFit/>
          </a:bodyPr>
          <a:lstStyle/>
          <a:p>
            <a:pPr algn="l">
              <a:lnSpc>
                <a:spcPct val="105000"/>
              </a:lnSpc>
            </a:pPr>
            <a:r>
              <a:rPr sz="2000" b="1">
                <a:solidFill>
                  <a:srgbClr val="12191D"/>
                </a:solidFill>
                <a:latin typeface="Schibsted Grotesk"/>
              </a:rPr>
              <a:t>Build and secure</a:t>
            </a:r>
          </a:p>
        </p:txBody>
      </p:sp>
      <p:sp>
        <p:nvSpPr>
          <p:cNvPr id="14" name="TextBox 13"/>
          <p:cNvSpPr txBox="1"/>
          <p:nvPr/>
        </p:nvSpPr>
        <p:spPr>
          <a:xfrm>
            <a:off x="6096000" y="3619500"/>
            <a:ext cx="2336800" cy="12700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We deliver inside your environment, cloud or on-premises, tested, secured and documented.</a:t>
            </a:r>
          </a:p>
        </p:txBody>
      </p:sp>
      <p:sp>
        <p:nvSpPr>
          <p:cNvPr id="15" name="Rectangle 14"/>
          <p:cNvSpPr/>
          <p:nvPr/>
        </p:nvSpPr>
        <p:spPr>
          <a:xfrm>
            <a:off x="8737600" y="2413000"/>
            <a:ext cx="2641600" cy="190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7600" y="2641600"/>
            <a:ext cx="23368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JetBrains Mono"/>
              </a:rPr>
              <a:t>04</a:t>
            </a:r>
          </a:p>
        </p:txBody>
      </p:sp>
      <p:sp>
        <p:nvSpPr>
          <p:cNvPr id="17" name="TextBox 16"/>
          <p:cNvSpPr txBox="1"/>
          <p:nvPr/>
        </p:nvSpPr>
        <p:spPr>
          <a:xfrm>
            <a:off x="8737600" y="2921000"/>
            <a:ext cx="2336800" cy="635000"/>
          </a:xfrm>
          <a:prstGeom prst="rect">
            <a:avLst/>
          </a:prstGeom>
          <a:noFill/>
        </p:spPr>
        <p:txBody>
          <a:bodyPr wrap="square" lIns="0" rIns="0" tIns="0" bIns="0" anchor="t">
            <a:spAutoFit/>
          </a:bodyPr>
          <a:lstStyle/>
          <a:p>
            <a:pPr algn="l">
              <a:lnSpc>
                <a:spcPct val="105000"/>
              </a:lnSpc>
            </a:pPr>
            <a:r>
              <a:rPr sz="2000" b="1">
                <a:solidFill>
                  <a:srgbClr val="12191D"/>
                </a:solidFill>
                <a:latin typeface="Schibsted Grotesk"/>
              </a:rPr>
              <a:t>Hand over</a:t>
            </a:r>
          </a:p>
        </p:txBody>
      </p:sp>
      <p:sp>
        <p:nvSpPr>
          <p:cNvPr id="18" name="TextBox 17"/>
          <p:cNvSpPr txBox="1"/>
          <p:nvPr/>
        </p:nvSpPr>
        <p:spPr>
          <a:xfrm>
            <a:off x="8737600" y="3619500"/>
            <a:ext cx="2336800" cy="1270000"/>
          </a:xfrm>
          <a:prstGeom prst="rect">
            <a:avLst/>
          </a:prstGeom>
          <a:noFill/>
        </p:spPr>
        <p:txBody>
          <a:bodyPr wrap="square" lIns="0" rIns="0" tIns="0" bIns="0" anchor="t">
            <a:spAutoFit/>
          </a:bodyPr>
          <a:lstStyle/>
          <a:p>
            <a:pPr algn="l">
              <a:lnSpc>
                <a:spcPct val="140000"/>
              </a:lnSpc>
            </a:pPr>
            <a:r>
              <a:rPr sz="1300" b="0">
                <a:solidFill>
                  <a:srgbClr val="37444C"/>
                </a:solidFill>
                <a:latin typeface="Schibsted Grotesk"/>
              </a:rPr>
              <a:t>Training and documentation leave your team confident to run and extend what we built.</a:t>
            </a:r>
          </a:p>
        </p:txBody>
      </p:sp>
      <p:sp>
        <p:nvSpPr>
          <p:cNvPr id="19" name="Rectangle 18"/>
          <p:cNvSpPr/>
          <p:nvPr/>
        </p:nvSpPr>
        <p:spPr>
          <a:xfrm>
            <a:off x="812800" y="5080000"/>
            <a:ext cx="10566400" cy="6350"/>
          </a:xfrm>
          <a:prstGeom prst="rect">
            <a:avLst/>
          </a:prstGeom>
          <a:solidFill>
            <a:srgbClr val="A9B0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800" y="5270500"/>
            <a:ext cx="10566400" cy="317500"/>
          </a:xfrm>
          <a:prstGeom prst="rect">
            <a:avLst/>
          </a:prstGeom>
          <a:noFill/>
        </p:spPr>
        <p:txBody>
          <a:bodyPr wrap="square" lIns="0" rIns="0" tIns="0" bIns="0" anchor="t">
            <a:spAutoFit/>
          </a:bodyPr>
          <a:lstStyle/>
          <a:p>
            <a:pPr algn="l">
              <a:lnSpc>
                <a:spcPct val="120000"/>
              </a:lnSpc>
            </a:pPr>
            <a:r>
              <a:rPr sz="1500" b="1">
                <a:solidFill>
                  <a:srgbClr val="12191D"/>
                </a:solidFill>
                <a:latin typeface="Schibsted Grotesk"/>
              </a:rPr>
              <a:t>Partnering with us: </a:t>
            </a:r>
            <a:r>
              <a:rPr sz="1500" b="0">
                <a:solidFill>
                  <a:srgbClr val="12191D"/>
                </a:solidFill>
                <a:latin typeface="Schibsted Grotesk"/>
              </a:rPr>
              <a:t>pilots, institutional deployments, research collaboration and technical integration.</a:t>
            </a:r>
          </a:p>
        </p:txBody>
      </p:sp>
      <p:sp>
        <p:nvSpPr>
          <p:cNvPr id="21" name="TextBox 20"/>
          <p:cNvSpPr txBox="1"/>
          <p:nvPr/>
        </p:nvSpPr>
        <p:spPr>
          <a:xfrm>
            <a:off x="812800" y="6248400"/>
            <a:ext cx="8255000" cy="203200"/>
          </a:xfrm>
          <a:prstGeom prst="rect">
            <a:avLst/>
          </a:prstGeom>
          <a:noFill/>
        </p:spPr>
        <p:txBody>
          <a:bodyPr wrap="square" lIns="0" rIns="0" tIns="0" bIns="0" anchor="t">
            <a:spAutoFit/>
          </a:bodyPr>
          <a:lstStyle/>
          <a:p>
            <a:pPr algn="l">
              <a:lnSpc>
                <a:spcPct val="120000"/>
              </a:lnSpc>
            </a:pPr>
            <a:r>
              <a:rPr sz="1200" b="0">
                <a:solidFill>
                  <a:srgbClr val="56656E"/>
                </a:solidFill>
                <a:latin typeface="Schibsted Grotesk"/>
              </a:rPr>
              <a:t>Sudaverse  |  Leading projects</a:t>
            </a:r>
          </a:p>
        </p:txBody>
      </p:sp>
      <p:sp>
        <p:nvSpPr>
          <p:cNvPr id="22" name="TextBox 21"/>
          <p:cNvSpPr txBox="1"/>
          <p:nvPr/>
        </p:nvSpPr>
        <p:spPr>
          <a:xfrm>
            <a:off x="10109200" y="6248400"/>
            <a:ext cx="1270000" cy="203200"/>
          </a:xfrm>
          <a:prstGeom prst="rect">
            <a:avLst/>
          </a:prstGeom>
          <a:noFill/>
        </p:spPr>
        <p:txBody>
          <a:bodyPr wrap="square" lIns="0" rIns="0" tIns="0" bIns="0" anchor="t">
            <a:spAutoFit/>
          </a:bodyPr>
          <a:lstStyle/>
          <a:p>
            <a:pPr algn="r">
              <a:lnSpc>
                <a:spcPct val="120000"/>
              </a:lnSpc>
            </a:pPr>
            <a:r>
              <a:rPr sz="1200" b="0">
                <a:solidFill>
                  <a:srgbClr val="56656E"/>
                </a:solidFill>
                <a:latin typeface="JetBrains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1A2C"/>
        </a:solidFill>
        <a:effectLst/>
      </p:bgPr>
    </p:bg>
    <p:spTree>
      <p:nvGrpSpPr>
        <p:cNvPr id="1" name=""/>
        <p:cNvGrpSpPr/>
        <p:nvPr/>
      </p:nvGrpSpPr>
      <p:grpSpPr/>
      <p:sp>
        <p:nvSpPr>
          <p:cNvPr id="2" name="TextBox 1"/>
          <p:cNvSpPr txBox="1"/>
          <p:nvPr/>
        </p:nvSpPr>
        <p:spPr>
          <a:xfrm>
            <a:off x="812800" y="952500"/>
            <a:ext cx="6350000" cy="1651000"/>
          </a:xfrm>
          <a:prstGeom prst="rect">
            <a:avLst/>
          </a:prstGeom>
          <a:noFill/>
        </p:spPr>
        <p:txBody>
          <a:bodyPr wrap="square" lIns="0" rIns="0" tIns="0" bIns="0" anchor="t">
            <a:spAutoFit/>
          </a:bodyPr>
          <a:lstStyle/>
          <a:p>
            <a:pPr algn="l">
              <a:lnSpc>
                <a:spcPct val="95000"/>
              </a:lnSpc>
            </a:pPr>
            <a:r>
              <a:rPr sz="5600" b="1">
                <a:solidFill>
                  <a:srgbClr val="F3F4EF"/>
                </a:solidFill>
                <a:latin typeface="Schibsted Grotesk"/>
              </a:rPr>
              <a:t>Build with Sudaverse.</a:t>
            </a:r>
          </a:p>
        </p:txBody>
      </p:sp>
      <p:sp>
        <p:nvSpPr>
          <p:cNvPr id="3" name="TextBox 2"/>
          <p:cNvSpPr txBox="1"/>
          <p:nvPr/>
        </p:nvSpPr>
        <p:spPr>
          <a:xfrm>
            <a:off x="812800" y="2667000"/>
            <a:ext cx="6350000" cy="317500"/>
          </a:xfrm>
          <a:prstGeom prst="rect">
            <a:avLst/>
          </a:prstGeom>
          <a:noFill/>
        </p:spPr>
        <p:txBody>
          <a:bodyPr wrap="square" lIns="0" rIns="0" tIns="0" bIns="0" anchor="t">
            <a:spAutoFit/>
          </a:bodyPr>
          <a:lstStyle/>
          <a:p>
            <a:pPr algn="l">
              <a:lnSpc>
                <a:spcPct val="120000"/>
              </a:lnSpc>
            </a:pPr>
            <a:r>
              <a:rPr sz="1600" b="0">
                <a:solidFill>
                  <a:srgbClr val="B4CBDE"/>
                </a:solidFill>
                <a:latin typeface="Schibsted Grotesk"/>
              </a:rPr>
              <a:t>Tell us what you are working on, and our engineering team will reply.</a:t>
            </a:r>
          </a:p>
        </p:txBody>
      </p:sp>
      <p:sp>
        <p:nvSpPr>
          <p:cNvPr id="4" name="Rectangle 3"/>
          <p:cNvSpPr/>
          <p:nvPr/>
        </p:nvSpPr>
        <p:spPr>
          <a:xfrm>
            <a:off x="812800" y="33020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3429000"/>
            <a:ext cx="1524000" cy="228600"/>
          </a:xfrm>
          <a:prstGeom prst="rect">
            <a:avLst/>
          </a:prstGeom>
          <a:noFill/>
        </p:spPr>
        <p:txBody>
          <a:bodyPr wrap="square" lIns="0" rIns="0" tIns="0" bIns="0" anchor="t">
            <a:spAutoFit/>
          </a:bodyPr>
          <a:lstStyle/>
          <a:p>
            <a:pPr algn="l">
              <a:lnSpc>
                <a:spcPct val="120000"/>
              </a:lnSpc>
            </a:pPr>
            <a:r>
              <a:rPr sz="1300" b="0">
                <a:solidFill>
                  <a:srgbClr val="B4CBDE"/>
                </a:solidFill>
                <a:latin typeface="Schibsted Grotesk"/>
              </a:rPr>
              <a:t>Email</a:t>
            </a:r>
          </a:p>
        </p:txBody>
      </p:sp>
      <p:sp>
        <p:nvSpPr>
          <p:cNvPr id="6" name="TextBox 5"/>
          <p:cNvSpPr txBox="1"/>
          <p:nvPr/>
        </p:nvSpPr>
        <p:spPr>
          <a:xfrm>
            <a:off x="2540000" y="3416300"/>
            <a:ext cx="4622800" cy="228600"/>
          </a:xfrm>
          <a:prstGeom prst="rect">
            <a:avLst/>
          </a:prstGeom>
          <a:noFill/>
        </p:spPr>
        <p:txBody>
          <a:bodyPr wrap="square" lIns="0" rIns="0" tIns="0" bIns="0" anchor="t">
            <a:spAutoFit/>
          </a:bodyPr>
          <a:lstStyle/>
          <a:p>
            <a:pPr algn="l">
              <a:lnSpc>
                <a:spcPct val="120000"/>
              </a:lnSpc>
            </a:pPr>
            <a:r>
              <a:rPr sz="1400" b="0">
                <a:solidFill>
                  <a:srgbClr val="F3F4EF"/>
                </a:solidFill>
                <a:latin typeface="JetBrains Mono"/>
              </a:rPr>
              <a:t>info@sudaverse.com</a:t>
            </a:r>
          </a:p>
        </p:txBody>
      </p:sp>
      <p:sp>
        <p:nvSpPr>
          <p:cNvPr id="7" name="Rectangle 6"/>
          <p:cNvSpPr/>
          <p:nvPr/>
        </p:nvSpPr>
        <p:spPr>
          <a:xfrm>
            <a:off x="812800" y="37719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3898900"/>
            <a:ext cx="1524000" cy="228600"/>
          </a:xfrm>
          <a:prstGeom prst="rect">
            <a:avLst/>
          </a:prstGeom>
          <a:noFill/>
        </p:spPr>
        <p:txBody>
          <a:bodyPr wrap="square" lIns="0" rIns="0" tIns="0" bIns="0" anchor="t">
            <a:spAutoFit/>
          </a:bodyPr>
          <a:lstStyle/>
          <a:p>
            <a:pPr algn="l">
              <a:lnSpc>
                <a:spcPct val="120000"/>
              </a:lnSpc>
            </a:pPr>
            <a:r>
              <a:rPr sz="1300" b="0">
                <a:solidFill>
                  <a:srgbClr val="B4CBDE"/>
                </a:solidFill>
                <a:latin typeface="Schibsted Grotesk"/>
              </a:rPr>
              <a:t>Website</a:t>
            </a:r>
          </a:p>
        </p:txBody>
      </p:sp>
      <p:sp>
        <p:nvSpPr>
          <p:cNvPr id="9" name="TextBox 8"/>
          <p:cNvSpPr txBox="1"/>
          <p:nvPr/>
        </p:nvSpPr>
        <p:spPr>
          <a:xfrm>
            <a:off x="2540000" y="3886200"/>
            <a:ext cx="4622800" cy="228600"/>
          </a:xfrm>
          <a:prstGeom prst="rect">
            <a:avLst/>
          </a:prstGeom>
          <a:noFill/>
        </p:spPr>
        <p:txBody>
          <a:bodyPr wrap="square" lIns="0" rIns="0" tIns="0" bIns="0" anchor="t">
            <a:spAutoFit/>
          </a:bodyPr>
          <a:lstStyle/>
          <a:p>
            <a:pPr algn="l">
              <a:lnSpc>
                <a:spcPct val="120000"/>
              </a:lnSpc>
            </a:pPr>
            <a:r>
              <a:rPr sz="1400" b="0">
                <a:solidFill>
                  <a:srgbClr val="F3F4EF"/>
                </a:solidFill>
                <a:latin typeface="JetBrains Mono"/>
              </a:rPr>
              <a:t>www.sudaverse.com</a:t>
            </a:r>
          </a:p>
        </p:txBody>
      </p:sp>
      <p:sp>
        <p:nvSpPr>
          <p:cNvPr id="10" name="Rectangle 9"/>
          <p:cNvSpPr/>
          <p:nvPr/>
        </p:nvSpPr>
        <p:spPr>
          <a:xfrm>
            <a:off x="812800" y="42418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4368800"/>
            <a:ext cx="1524000" cy="228600"/>
          </a:xfrm>
          <a:prstGeom prst="rect">
            <a:avLst/>
          </a:prstGeom>
          <a:noFill/>
        </p:spPr>
        <p:txBody>
          <a:bodyPr wrap="square" lIns="0" rIns="0" tIns="0" bIns="0" anchor="t">
            <a:spAutoFit/>
          </a:bodyPr>
          <a:lstStyle/>
          <a:p>
            <a:pPr algn="l">
              <a:lnSpc>
                <a:spcPct val="120000"/>
              </a:lnSpc>
            </a:pPr>
            <a:r>
              <a:rPr sz="1300" b="0">
                <a:solidFill>
                  <a:srgbClr val="30A8D8"/>
                </a:solidFill>
                <a:latin typeface="Schibsted Grotesk"/>
              </a:rPr>
              <a:t>SudaTutor</a:t>
            </a:r>
          </a:p>
        </p:txBody>
      </p:sp>
      <p:sp>
        <p:nvSpPr>
          <p:cNvPr id="12" name="TextBox 11"/>
          <p:cNvSpPr txBox="1"/>
          <p:nvPr/>
        </p:nvSpPr>
        <p:spPr>
          <a:xfrm>
            <a:off x="2540000" y="4356100"/>
            <a:ext cx="4622800" cy="228600"/>
          </a:xfrm>
          <a:prstGeom prst="rect">
            <a:avLst/>
          </a:prstGeom>
          <a:noFill/>
        </p:spPr>
        <p:txBody>
          <a:bodyPr wrap="square" lIns="0" rIns="0" tIns="0" bIns="0" anchor="t">
            <a:spAutoFit/>
          </a:bodyPr>
          <a:lstStyle/>
          <a:p>
            <a:pPr algn="l">
              <a:lnSpc>
                <a:spcPct val="120000"/>
              </a:lnSpc>
            </a:pPr>
            <a:r>
              <a:rPr sz="1400" b="0">
                <a:solidFill>
                  <a:srgbClr val="F3F4EF"/>
                </a:solidFill>
                <a:latin typeface="JetBrains Mono"/>
              </a:rPr>
              <a:t>sudatutor.sudaverse.com</a:t>
            </a:r>
          </a:p>
        </p:txBody>
      </p:sp>
      <p:sp>
        <p:nvSpPr>
          <p:cNvPr id="13" name="Rectangle 12"/>
          <p:cNvSpPr/>
          <p:nvPr/>
        </p:nvSpPr>
        <p:spPr>
          <a:xfrm>
            <a:off x="812800" y="47117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4838700"/>
            <a:ext cx="1524000" cy="228600"/>
          </a:xfrm>
          <a:prstGeom prst="rect">
            <a:avLst/>
          </a:prstGeom>
          <a:noFill/>
        </p:spPr>
        <p:txBody>
          <a:bodyPr wrap="square" lIns="0" rIns="0" tIns="0" bIns="0" anchor="t">
            <a:spAutoFit/>
          </a:bodyPr>
          <a:lstStyle/>
          <a:p>
            <a:pPr algn="l">
              <a:lnSpc>
                <a:spcPct val="120000"/>
              </a:lnSpc>
            </a:pPr>
            <a:r>
              <a:rPr sz="1300" b="0">
                <a:solidFill>
                  <a:srgbClr val="4CAF50"/>
                </a:solidFill>
                <a:latin typeface="Schibsted Grotesk"/>
              </a:rPr>
              <a:t>NodeGrid</a:t>
            </a:r>
          </a:p>
        </p:txBody>
      </p:sp>
      <p:sp>
        <p:nvSpPr>
          <p:cNvPr id="15" name="TextBox 14"/>
          <p:cNvSpPr txBox="1"/>
          <p:nvPr/>
        </p:nvSpPr>
        <p:spPr>
          <a:xfrm>
            <a:off x="2540000" y="4826000"/>
            <a:ext cx="4622800" cy="228600"/>
          </a:xfrm>
          <a:prstGeom prst="rect">
            <a:avLst/>
          </a:prstGeom>
          <a:noFill/>
        </p:spPr>
        <p:txBody>
          <a:bodyPr wrap="square" lIns="0" rIns="0" tIns="0" bIns="0" anchor="t">
            <a:spAutoFit/>
          </a:bodyPr>
          <a:lstStyle/>
          <a:p>
            <a:pPr algn="l">
              <a:lnSpc>
                <a:spcPct val="120000"/>
              </a:lnSpc>
            </a:pPr>
            <a:r>
              <a:rPr sz="1400" b="0">
                <a:solidFill>
                  <a:srgbClr val="F3F4EF"/>
                </a:solidFill>
                <a:latin typeface="JetBrains Mono"/>
              </a:rPr>
              <a:t>nodegrid.sudaverse.com</a:t>
            </a:r>
          </a:p>
        </p:txBody>
      </p:sp>
      <p:sp>
        <p:nvSpPr>
          <p:cNvPr id="16" name="Rectangle 15"/>
          <p:cNvSpPr/>
          <p:nvPr/>
        </p:nvSpPr>
        <p:spPr>
          <a:xfrm>
            <a:off x="812800" y="51816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800" y="5308600"/>
            <a:ext cx="1524000" cy="228600"/>
          </a:xfrm>
          <a:prstGeom prst="rect">
            <a:avLst/>
          </a:prstGeom>
          <a:noFill/>
        </p:spPr>
        <p:txBody>
          <a:bodyPr wrap="square" lIns="0" rIns="0" tIns="0" bIns="0" anchor="t">
            <a:spAutoFit/>
          </a:bodyPr>
          <a:lstStyle/>
          <a:p>
            <a:pPr algn="l">
              <a:lnSpc>
                <a:spcPct val="120000"/>
              </a:lnSpc>
            </a:pPr>
            <a:r>
              <a:rPr sz="1300" b="0">
                <a:solidFill>
                  <a:srgbClr val="E3A27F"/>
                </a:solidFill>
                <a:latin typeface="Schibsted Grotesk"/>
              </a:rPr>
              <a:t>SmartSelect</a:t>
            </a:r>
          </a:p>
        </p:txBody>
      </p:sp>
      <p:sp>
        <p:nvSpPr>
          <p:cNvPr id="18" name="TextBox 17"/>
          <p:cNvSpPr txBox="1"/>
          <p:nvPr/>
        </p:nvSpPr>
        <p:spPr>
          <a:xfrm>
            <a:off x="2540000" y="5295900"/>
            <a:ext cx="4622800" cy="228600"/>
          </a:xfrm>
          <a:prstGeom prst="rect">
            <a:avLst/>
          </a:prstGeom>
          <a:noFill/>
        </p:spPr>
        <p:txBody>
          <a:bodyPr wrap="square" lIns="0" rIns="0" tIns="0" bIns="0" anchor="t">
            <a:spAutoFit/>
          </a:bodyPr>
          <a:lstStyle/>
          <a:p>
            <a:pPr algn="l">
              <a:lnSpc>
                <a:spcPct val="120000"/>
              </a:lnSpc>
            </a:pPr>
            <a:r>
              <a:rPr sz="1400" b="0">
                <a:solidFill>
                  <a:srgbClr val="F3F4EF"/>
                </a:solidFill>
                <a:latin typeface="JetBrains Mono"/>
              </a:rPr>
              <a:t>smartselect.sudaverse.com</a:t>
            </a:r>
          </a:p>
        </p:txBody>
      </p:sp>
      <p:sp>
        <p:nvSpPr>
          <p:cNvPr id="19" name="Rectangle 18"/>
          <p:cNvSpPr/>
          <p:nvPr/>
        </p:nvSpPr>
        <p:spPr>
          <a:xfrm>
            <a:off x="812800" y="5651500"/>
            <a:ext cx="6350000" cy="635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v-full-rev.png"/>
          <p:cNvPicPr>
            <a:picLocks noChangeAspect="1"/>
          </p:cNvPicPr>
          <p:nvPr/>
        </p:nvPicPr>
        <p:blipFill>
          <a:blip r:embed="rId3"/>
          <a:stretch>
            <a:fillRect/>
          </a:stretch>
        </p:blipFill>
        <p:spPr>
          <a:xfrm>
            <a:off x="7823200" y="2095902"/>
            <a:ext cx="3556000" cy="26471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